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8" r:id="rId13"/>
  </p:sldIdLst>
  <p:sldSz cy="8229600" cx="14630400"/>
  <p:notesSz cx="8229600" cy="146304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9" name=""/>
        <p:cNvGrpSpPr/>
        <p:nvPr/>
      </p:nvGrpSpPr>
      <p:grpSpPr>
        <a:xfrm>
          <a:off x="0" y="0"/>
          <a:ext cx="0" cy="0"/>
          <a:chOff x="0" y="0"/>
          <a:chExt cx="0" cy="0"/>
        </a:xfrm>
      </p:grpSpPr>
      <p:sp>
        <p:nvSpPr>
          <p:cNvPr id="1048734"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35"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736"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737"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8"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39"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3" name="Slide Image Placeholder 1"/>
          <p:cNvSpPr>
            <a:spLocks noChangeAspect="1" noRot="1" noGrp="1"/>
          </p:cNvSpPr>
          <p:nvPr>
            <p:ph type="sldImg"/>
          </p:nvPr>
        </p:nvSpPr>
        <p:spPr/>
      </p:sp>
      <p:sp>
        <p:nvSpPr>
          <p:cNvPr id="1048584" name="Notes Placeholder 2"/>
          <p:cNvSpPr>
            <a:spLocks noGrp="1"/>
          </p:cNvSpPr>
          <p:nvPr>
            <p:ph type="body" idx="1"/>
          </p:nvPr>
        </p:nvSpPr>
        <p:spPr/>
        <p:txBody>
          <a:bodyPr/>
          <a:p>
            <a:r>
              <a:rPr dirty="0" lang="en-US"/>
              <a:t/>
            </a:r>
            <a:endParaRPr dirty="0" lang="en-US"/>
          </a:p>
        </p:txBody>
      </p:sp>
      <p:sp>
        <p:nvSpPr>
          <p:cNvPr id="1048585"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589" name="Slide Image Placeholder 1"/>
          <p:cNvSpPr>
            <a:spLocks noChangeAspect="1" noRot="1" noGrp="1"/>
          </p:cNvSpPr>
          <p:nvPr>
            <p:ph type="sldImg"/>
          </p:nvPr>
        </p:nvSpPr>
        <p:spPr/>
      </p:sp>
      <p:sp>
        <p:nvSpPr>
          <p:cNvPr id="1048590" name="Notes Placeholder 2"/>
          <p:cNvSpPr>
            <a:spLocks noGrp="1"/>
          </p:cNvSpPr>
          <p:nvPr>
            <p:ph type="body" idx="1"/>
          </p:nvPr>
        </p:nvSpPr>
        <p:spPr/>
        <p:txBody>
          <a:bodyPr/>
          <a:p>
            <a:r>
              <a:rPr dirty="0" lang="en-US"/>
              <a:t/>
            </a:r>
            <a:endParaRPr dirty="0" lang="en-US"/>
          </a:p>
        </p:txBody>
      </p:sp>
      <p:sp>
        <p:nvSpPr>
          <p:cNvPr id="1048591"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05" name="Slide Image Placeholder 1"/>
          <p:cNvSpPr>
            <a:spLocks noChangeAspect="1" noRot="1" noGrp="1"/>
          </p:cNvSpPr>
          <p:nvPr>
            <p:ph type="sldImg"/>
          </p:nvPr>
        </p:nvSpPr>
        <p:spPr/>
      </p:sp>
      <p:sp>
        <p:nvSpPr>
          <p:cNvPr id="1048606" name="Notes Placeholder 2"/>
          <p:cNvSpPr>
            <a:spLocks noGrp="1"/>
          </p:cNvSpPr>
          <p:nvPr>
            <p:ph type="body" idx="1"/>
          </p:nvPr>
        </p:nvSpPr>
        <p:spPr/>
        <p:txBody>
          <a:bodyPr/>
          <a:p>
            <a:r>
              <a:rPr dirty="0" lang="en-US"/>
              <a:t/>
            </a:r>
            <a:endParaRPr dirty="0" lang="en-US"/>
          </a:p>
        </p:txBody>
      </p:sp>
      <p:sp>
        <p:nvSpPr>
          <p:cNvPr id="1048607"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619" name="Slide Image Placeholder 1"/>
          <p:cNvSpPr>
            <a:spLocks noChangeAspect="1" noRot="1" noGrp="1"/>
          </p:cNvSpPr>
          <p:nvPr>
            <p:ph type="sldImg"/>
          </p:nvPr>
        </p:nvSpPr>
        <p:spPr/>
      </p:sp>
      <p:sp>
        <p:nvSpPr>
          <p:cNvPr id="1048620" name="Notes Placeholder 2"/>
          <p:cNvSpPr>
            <a:spLocks noGrp="1"/>
          </p:cNvSpPr>
          <p:nvPr>
            <p:ph type="body" idx="1"/>
          </p:nvPr>
        </p:nvSpPr>
        <p:spPr/>
        <p:txBody>
          <a:bodyPr/>
          <a:p>
            <a:r>
              <a:rPr dirty="0" lang="en-US"/>
              <a:t/>
            </a:r>
            <a:endParaRPr dirty="0" lang="en-US"/>
          </a:p>
        </p:txBody>
      </p:sp>
      <p:sp>
        <p:nvSpPr>
          <p:cNvPr id="1048621"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34" name="Slide Image Placeholder 1"/>
          <p:cNvSpPr>
            <a:spLocks noChangeAspect="1" noRot="1" noGrp="1"/>
          </p:cNvSpPr>
          <p:nvPr>
            <p:ph type="sldImg"/>
          </p:nvPr>
        </p:nvSpPr>
        <p:spPr/>
      </p:sp>
      <p:sp>
        <p:nvSpPr>
          <p:cNvPr id="1048635" name="Notes Placeholder 2"/>
          <p:cNvSpPr>
            <a:spLocks noGrp="1"/>
          </p:cNvSpPr>
          <p:nvPr>
            <p:ph type="body" idx="1"/>
          </p:nvPr>
        </p:nvSpPr>
        <p:spPr/>
        <p:txBody>
          <a:bodyPr/>
          <a:p>
            <a:r>
              <a:rPr dirty="0" lang="en-US"/>
              <a:t/>
            </a:r>
            <a:endParaRPr dirty="0" lang="en-US"/>
          </a:p>
        </p:txBody>
      </p:sp>
      <p:sp>
        <p:nvSpPr>
          <p:cNvPr id="1048636"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53" name="Slide Image Placeholder 1"/>
          <p:cNvSpPr>
            <a:spLocks noChangeAspect="1" noRot="1" noGrp="1"/>
          </p:cNvSpPr>
          <p:nvPr>
            <p:ph type="sldImg"/>
          </p:nvPr>
        </p:nvSpPr>
        <p:spPr/>
      </p:sp>
      <p:sp>
        <p:nvSpPr>
          <p:cNvPr id="1048654" name="Notes Placeholder 2"/>
          <p:cNvSpPr>
            <a:spLocks noGrp="1"/>
          </p:cNvSpPr>
          <p:nvPr>
            <p:ph type="body" idx="1"/>
          </p:nvPr>
        </p:nvSpPr>
        <p:spPr/>
        <p:txBody>
          <a:bodyPr/>
          <a:p>
            <a:r>
              <a:rPr dirty="0" lang="en-US"/>
              <a:t/>
            </a:r>
            <a:endParaRPr dirty="0" lang="en-US"/>
          </a:p>
        </p:txBody>
      </p:sp>
      <p:sp>
        <p:nvSpPr>
          <p:cNvPr id="1048655"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68" name="Slide Image Placeholder 1"/>
          <p:cNvSpPr>
            <a:spLocks noChangeAspect="1" noRot="1" noGrp="1"/>
          </p:cNvSpPr>
          <p:nvPr>
            <p:ph type="sldImg"/>
          </p:nvPr>
        </p:nvSpPr>
        <p:spPr/>
      </p:sp>
      <p:sp>
        <p:nvSpPr>
          <p:cNvPr id="1048669" name="Notes Placeholder 2"/>
          <p:cNvSpPr>
            <a:spLocks noGrp="1"/>
          </p:cNvSpPr>
          <p:nvPr>
            <p:ph type="body" idx="1"/>
          </p:nvPr>
        </p:nvSpPr>
        <p:spPr/>
        <p:txBody>
          <a:bodyPr/>
          <a:p>
            <a:r>
              <a:rPr dirty="0" lang="en-US"/>
              <a:t/>
            </a:r>
            <a:endParaRPr dirty="0" lang="en-US"/>
          </a:p>
        </p:txBody>
      </p:sp>
      <p:sp>
        <p:nvSpPr>
          <p:cNvPr id="1048670"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80" name="Slide Image Placeholder 1"/>
          <p:cNvSpPr>
            <a:spLocks noChangeAspect="1" noRot="1" noGrp="1"/>
          </p:cNvSpPr>
          <p:nvPr>
            <p:ph type="sldImg"/>
          </p:nvPr>
        </p:nvSpPr>
        <p:spPr/>
      </p:sp>
      <p:sp>
        <p:nvSpPr>
          <p:cNvPr id="1048681" name="Notes Placeholder 2"/>
          <p:cNvSpPr>
            <a:spLocks noGrp="1"/>
          </p:cNvSpPr>
          <p:nvPr>
            <p:ph type="body" idx="1"/>
          </p:nvPr>
        </p:nvSpPr>
        <p:spPr/>
        <p:txBody>
          <a:bodyPr/>
          <a:p>
            <a:r>
              <a:rPr dirty="0" lang="en-US"/>
              <a:t/>
            </a:r>
            <a:endParaRPr dirty="0" lang="en-US"/>
          </a:p>
        </p:txBody>
      </p:sp>
      <p:sp>
        <p:nvSpPr>
          <p:cNvPr id="1048682"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702" name="Slide Image Placeholder 1"/>
          <p:cNvSpPr>
            <a:spLocks noChangeAspect="1" noRot="1" noGrp="1"/>
          </p:cNvSpPr>
          <p:nvPr>
            <p:ph type="sldImg"/>
          </p:nvPr>
        </p:nvSpPr>
        <p:spPr/>
      </p:sp>
      <p:sp>
        <p:nvSpPr>
          <p:cNvPr id="1048703" name="Notes Placeholder 2"/>
          <p:cNvSpPr>
            <a:spLocks noGrp="1"/>
          </p:cNvSpPr>
          <p:nvPr>
            <p:ph type="body" idx="1"/>
          </p:nvPr>
        </p:nvSpPr>
        <p:spPr/>
        <p:txBody>
          <a:bodyPr/>
          <a:p>
            <a:r>
              <a:rPr dirty="0" lang="en-US"/>
              <a:t/>
            </a:r>
            <a:endParaRPr dirty="0" lang="en-US"/>
          </a:p>
        </p:txBody>
      </p:sp>
      <p:sp>
        <p:nvSpPr>
          <p:cNvPr id="1048704"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717" name="Slide Image Placeholder 1"/>
          <p:cNvSpPr>
            <a:spLocks noChangeAspect="1" noRot="1" noGrp="1"/>
          </p:cNvSpPr>
          <p:nvPr>
            <p:ph type="sldImg"/>
          </p:nvPr>
        </p:nvSpPr>
        <p:spPr/>
      </p:sp>
      <p:sp>
        <p:nvSpPr>
          <p:cNvPr id="1048718" name="Notes Placeholder 2"/>
          <p:cNvSpPr>
            <a:spLocks noGrp="1"/>
          </p:cNvSpPr>
          <p:nvPr>
            <p:ph type="body" idx="1"/>
          </p:nvPr>
        </p:nvSpPr>
        <p:spPr/>
        <p:txBody>
          <a:bodyPr/>
          <a:p>
            <a:r>
              <a:rPr dirty="0" lang="en-US"/>
              <a:t/>
            </a:r>
            <a:endParaRPr dirty="0" lang="en-US"/>
          </a:p>
        </p:txBody>
      </p:sp>
      <p:sp>
        <p:nvSpPr>
          <p:cNvPr id="1048719"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731" name="Slide Image Placeholder 1"/>
          <p:cNvSpPr>
            <a:spLocks noChangeAspect="1" noRot="1" noGrp="1"/>
          </p:cNvSpPr>
          <p:nvPr>
            <p:ph type="sldImg"/>
          </p:nvPr>
        </p:nvSpPr>
        <p:spPr/>
      </p:sp>
      <p:sp>
        <p:nvSpPr>
          <p:cNvPr id="1048732" name="Notes Placeholder 2"/>
          <p:cNvSpPr>
            <a:spLocks noGrp="1"/>
          </p:cNvSpPr>
          <p:nvPr>
            <p:ph type="body" idx="1"/>
          </p:nvPr>
        </p:nvSpPr>
        <p:spPr/>
        <p:txBody>
          <a:bodyPr/>
          <a:p>
            <a:r>
              <a:rPr dirty="0" lang="en-US"/>
              <a:t/>
            </a:r>
            <a:endParaRPr dirty="0" lang="en-US"/>
          </a:p>
        </p:txBody>
      </p:sp>
      <p:sp>
        <p:nvSpPr>
          <p:cNvPr id="1048733"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hyperlink" Target="https://gamma.app" TargetMode="External"/><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amma.app" TargetMode="External"/><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hyperlink" Target="https://gamma.app" TargetMode="External"/><Relationship Id="rId7" Type="http://schemas.openxmlformats.org/officeDocument/2006/relationships/image" Target="../media/image10.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gamma.app" TargetMode="External"/><Relationship Id="rId6" Type="http://schemas.openxmlformats.org/officeDocument/2006/relationships/image" Target="../media/image15.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amma.app" TargetMode="External"/><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amma.app" TargetMode="External"/><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amma.app" TargetMode="External"/><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hyperlink" Target="https://gamma.app" TargetMode="External"/><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amma.app" TargetMode="External"/><Relationship Id="rId2" Type="http://schemas.openxmlformats.org/officeDocument/2006/relationships/image" Target="../media/image23.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hyperlink" Target="https://gamma.app" TargetMode="External"/><Relationship Id="rId5" Type="http://schemas.openxmlformats.org/officeDocument/2006/relationships/image" Target="../media/image27.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hyperlink" Target="https://gamma.app" TargetMode="External"/><Relationship Id="rId6" Type="http://schemas.openxmlformats.org/officeDocument/2006/relationships/image" Target="../media/image32.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5" name=""/>
        <p:cNvGrpSpPr/>
        <p:nvPr/>
      </p:nvGrpSpPr>
      <p:grpSpPr>
        <a:xfrm>
          <a:off x="0" y="0"/>
          <a:ext cx="0" cy="0"/>
          <a:chOff x="0" y="0"/>
          <a:chExt cx="0" cy="0"/>
        </a:xfrm>
      </p:grpSpPr>
      <p:sp>
        <p:nvSpPr>
          <p:cNvPr id="1048576" name="Shape 0"/>
          <p:cNvSpPr/>
          <p:nvPr/>
        </p:nvSpPr>
        <p:spPr>
          <a:xfrm>
            <a:off x="0" y="0"/>
            <a:ext cx="14630400" cy="8229600"/>
          </a:xfrm>
          <a:prstGeom prst="rect"/>
          <a:solidFill>
            <a:srgbClr val="EADEDA"/>
          </a:solidFill>
        </p:spPr>
      </p:sp>
      <p:sp>
        <p:nvSpPr>
          <p:cNvPr id="1048577" name="Shape 1"/>
          <p:cNvSpPr/>
          <p:nvPr/>
        </p:nvSpPr>
        <p:spPr>
          <a:xfrm>
            <a:off x="0" y="0"/>
            <a:ext cx="14630400" cy="8229600"/>
          </a:xfrm>
          <a:prstGeom prst="rect"/>
          <a:solidFill>
            <a:srgbClr val="0C0C0C"/>
          </a:solidFill>
        </p:spPr>
      </p:sp>
      <p:pic>
        <p:nvPicPr>
          <p:cNvPr id="2097152" name="Image 0" descr="preencoded.png"/>
          <p:cNvPicPr>
            <a:picLocks noChangeAspect="1"/>
          </p:cNvPicPr>
          <p:nvPr/>
        </p:nvPicPr>
        <p:blipFill>
          <a:blip xmlns:r="http://schemas.openxmlformats.org/officeDocument/2006/relationships" r:embed="rId1"/>
          <a:stretch>
            <a:fillRect/>
          </a:stretch>
        </p:blipFill>
        <p:spPr>
          <a:xfrm>
            <a:off x="9982200" y="2209800"/>
            <a:ext cx="3810000" cy="3810000"/>
          </a:xfrm>
          <a:prstGeom prst="rect"/>
        </p:spPr>
      </p:pic>
      <p:sp>
        <p:nvSpPr>
          <p:cNvPr id="1048578" name="Text 2"/>
          <p:cNvSpPr/>
          <p:nvPr/>
        </p:nvSpPr>
        <p:spPr>
          <a:xfrm>
            <a:off x="833199" y="2552938"/>
            <a:ext cx="7214830" cy="901898"/>
          </a:xfrm>
          <a:prstGeom prst="rect"/>
          <a:noFill/>
        </p:spPr>
        <p:txBody>
          <a:bodyPr anchor="t" rtlCol="0" wrap="none"/>
          <a:p>
            <a:pPr indent="0" marL="0">
              <a:lnSpc>
                <a:spcPts val="7101"/>
              </a:lnSpc>
              <a:buNone/>
            </a:pPr>
            <a:r>
              <a:rPr b="1" dirty="0" sz="5681" kern="0" lang="en-US" spc="-170">
                <a:solidFill>
                  <a:srgbClr val="FFFFFF"/>
                </a:solidFill>
                <a:latin typeface="Overpass" pitchFamily="34" charset="0"/>
                <a:ea typeface="Overpass" pitchFamily="34" charset="-122"/>
                <a:cs typeface="Overpass" pitchFamily="34" charset="-120"/>
              </a:rPr>
              <a:t>Mind Over Matter</a:t>
            </a:r>
            <a:endParaRPr dirty="0" sz="5681" lang="en-US"/>
          </a:p>
        </p:txBody>
      </p:sp>
      <p:sp>
        <p:nvSpPr>
          <p:cNvPr id="1048579" name="Text 3"/>
          <p:cNvSpPr/>
          <p:nvPr/>
        </p:nvSpPr>
        <p:spPr>
          <a:xfrm>
            <a:off x="833199" y="3788093"/>
            <a:ext cx="7477601" cy="666512"/>
          </a:xfrm>
          <a:prstGeom prst="rect"/>
          <a:noFill/>
        </p:spPr>
        <p:txBody>
          <a:bodyPr anchor="t" rtlCol="0" wrap="square"/>
          <a:p>
            <a:pPr indent="0" marL="0">
              <a:lnSpc>
                <a:spcPts val="2624"/>
              </a:lnSpc>
              <a:buNone/>
            </a:pPr>
            <a:r>
              <a:rPr dirty="0" sz="1750" lang="en-US">
                <a:solidFill>
                  <a:srgbClr val="E5E0DF"/>
                </a:solidFill>
                <a:latin typeface="Overpass" pitchFamily="34" charset="0"/>
                <a:ea typeface="Overpass" pitchFamily="34" charset="-122"/>
                <a:cs typeface="Overpass" pitchFamily="34" charset="-120"/>
              </a:rPr>
              <a:t>Addressing the Mental Health Crisis In Kenyatta University; A New Approach</a:t>
            </a:r>
            <a:endParaRPr dirty="0" sz="1750" lang="en-US"/>
          </a:p>
        </p:txBody>
      </p:sp>
      <p:sp>
        <p:nvSpPr>
          <p:cNvPr id="1048580" name="Text 4"/>
          <p:cNvSpPr/>
          <p:nvPr/>
        </p:nvSpPr>
        <p:spPr>
          <a:xfrm>
            <a:off x="833199" y="4704517"/>
            <a:ext cx="7477601" cy="333256"/>
          </a:xfrm>
          <a:prstGeom prst="rect"/>
          <a:noFill/>
        </p:spPr>
        <p:txBody>
          <a:bodyPr anchor="t" rtlCol="0" wrap="none"/>
          <a:p>
            <a:pPr indent="0" marL="0">
              <a:lnSpc>
                <a:spcPts val="2624"/>
              </a:lnSpc>
              <a:buNone/>
            </a:pPr>
            <a:endParaRPr dirty="0" sz="1750" lang="en-US"/>
          </a:p>
        </p:txBody>
      </p:sp>
      <p:sp>
        <p:nvSpPr>
          <p:cNvPr id="1048581" name="Shape 5"/>
          <p:cNvSpPr/>
          <p:nvPr/>
        </p:nvSpPr>
        <p:spPr>
          <a:xfrm>
            <a:off x="833199" y="5304353"/>
            <a:ext cx="355402" cy="355402"/>
          </a:xfrm>
          <a:prstGeom prst="roundRect">
            <a:avLst>
              <a:gd name="adj" fmla="val 25726039"/>
            </a:avLst>
          </a:prstGeom>
          <a:noFill/>
          <a:ln w="7620">
            <a:solidFill>
              <a:srgbClr val="FFFFFF"/>
            </a:solidFill>
            <a:prstDash val="solid"/>
          </a:ln>
        </p:spPr>
      </p:sp>
      <p:pic>
        <p:nvPicPr>
          <p:cNvPr id="2097153" name="Image 1" descr="preencoded.png"/>
          <p:cNvPicPr>
            <a:picLocks noChangeAspect="1"/>
          </p:cNvPicPr>
          <p:nvPr/>
        </p:nvPicPr>
        <p:blipFill>
          <a:blip xmlns:r="http://schemas.openxmlformats.org/officeDocument/2006/relationships" r:embed="rId2"/>
          <a:stretch>
            <a:fillRect/>
          </a:stretch>
        </p:blipFill>
        <p:spPr>
          <a:xfrm>
            <a:off x="840819" y="5311973"/>
            <a:ext cx="340162" cy="340162"/>
          </a:xfrm>
          <a:prstGeom prst="rect"/>
        </p:spPr>
      </p:pic>
      <p:sp>
        <p:nvSpPr>
          <p:cNvPr id="1048582" name="Text 6"/>
          <p:cNvSpPr/>
          <p:nvPr/>
        </p:nvSpPr>
        <p:spPr>
          <a:xfrm>
            <a:off x="1299686" y="5287685"/>
            <a:ext cx="1785818" cy="388858"/>
          </a:xfrm>
          <a:prstGeom prst="rect"/>
          <a:noFill/>
        </p:spPr>
        <p:txBody>
          <a:bodyPr anchor="t" rtlCol="0" wrap="none"/>
          <a:p>
            <a:pPr algn="l" indent="0" marL="0">
              <a:lnSpc>
                <a:spcPts val="3062"/>
              </a:lnSpc>
              <a:buNone/>
            </a:pPr>
            <a:r>
              <a:rPr b="1" dirty="0" sz="2187" lang="en-US">
                <a:solidFill>
                  <a:srgbClr val="E5E0DF"/>
                </a:solidFill>
                <a:latin typeface="Overpass" pitchFamily="34" charset="0"/>
                <a:ea typeface="Overpass" pitchFamily="34" charset="-122"/>
                <a:cs typeface="Overpass" pitchFamily="34" charset="-120"/>
              </a:rPr>
              <a:t>by Faith Waigi</a:t>
            </a:r>
            <a:endParaRPr dirty="0" sz="2187" lang="en-US"/>
          </a:p>
        </p:txBody>
      </p:sp>
      <p:pic>
        <p:nvPicPr>
          <p:cNvPr id="2097154" name="Image 2" descr="preencoded.png">
            <a:hlinkClick r:id="rId3" tooltip=""/>
          </p:cNvPr>
          <p:cNvPicPr>
            <a:picLocks noChangeAspect="1"/>
          </p:cNvPicPr>
          <p:nvPr/>
        </p:nvPicPr>
        <p:blipFill>
          <a:blip xmlns:r="http://schemas.openxmlformats.org/officeDocument/2006/relationships" r:embed="rId4"/>
          <a:stretch>
            <a:fillRect/>
          </a:stretch>
        </p:blipFill>
        <p:spPr>
          <a:xfrm>
            <a:off x="12242153" y="7589520"/>
            <a:ext cx="2296807" cy="548640"/>
          </a:xfrm>
          <a:prstGeom prst="rec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9" name=""/>
        <p:cNvGrpSpPr/>
        <p:nvPr/>
      </p:nvGrpSpPr>
      <p:grpSpPr>
        <a:xfrm>
          <a:off x="0" y="0"/>
          <a:ext cx="0" cy="0"/>
          <a:chOff x="0" y="0"/>
          <a:chExt cx="0" cy="0"/>
        </a:xfrm>
      </p:grpSpPr>
      <p:sp>
        <p:nvSpPr>
          <p:cNvPr id="1048586" name="Shape 0"/>
          <p:cNvSpPr/>
          <p:nvPr/>
        </p:nvSpPr>
        <p:spPr>
          <a:xfrm>
            <a:off x="0" y="0"/>
            <a:ext cx="14630400" cy="8229600"/>
          </a:xfrm>
          <a:prstGeom prst="rect"/>
          <a:solidFill>
            <a:srgbClr val="EADEDA"/>
          </a:solidFill>
        </p:spPr>
      </p:sp>
      <p:sp>
        <p:nvSpPr>
          <p:cNvPr id="1048587" name="Shape 1"/>
          <p:cNvSpPr/>
          <p:nvPr/>
        </p:nvSpPr>
        <p:spPr>
          <a:xfrm>
            <a:off x="0" y="0"/>
            <a:ext cx="14630400" cy="8229600"/>
          </a:xfrm>
          <a:prstGeom prst="rect"/>
          <a:solidFill>
            <a:srgbClr val="0C0C0C"/>
          </a:solidFill>
        </p:spPr>
      </p:sp>
      <p:sp>
        <p:nvSpPr>
          <p:cNvPr id="1048588" name="Text 2"/>
          <p:cNvSpPr/>
          <p:nvPr/>
        </p:nvSpPr>
        <p:spPr>
          <a:xfrm>
            <a:off x="2348389" y="3134678"/>
            <a:ext cx="9933503" cy="1960245"/>
          </a:xfrm>
          <a:prstGeom prst="rect"/>
          <a:noFill/>
        </p:spPr>
        <p:txBody>
          <a:bodyPr anchor="t" rtlCol="0" wrap="squar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a:t>
            </a:r>
            <a:r>
              <a:rPr b="1" dirty="0" sz="4117" kern="0" lang="en-US" spc="-124">
                <a:solidFill>
                  <a:srgbClr val="F20374"/>
                </a:solidFill>
                <a:latin typeface="Overpass" pitchFamily="34" charset="0"/>
                <a:ea typeface="Overpass" pitchFamily="34" charset="-122"/>
                <a:cs typeface="Overpass" pitchFamily="34" charset="-120"/>
              </a:rPr>
              <a:t>What mental health needs is more light</a:t>
            </a:r>
            <a:r>
              <a:rPr b="1" dirty="0" sz="4117" kern="0" lang="en-US" spc="-124">
                <a:solidFill>
                  <a:srgbClr val="FFFFFF"/>
                </a:solidFill>
                <a:latin typeface="Overpass" pitchFamily="34" charset="0"/>
                <a:ea typeface="Overpass" pitchFamily="34" charset="-122"/>
                <a:cs typeface="Overpass" pitchFamily="34" charset="-120"/>
              </a:rPr>
              <a:t>, </a:t>
            </a:r>
            <a:r>
              <a:rPr b="1" dirty="0" sz="4117" kern="0" lang="en-US" spc="-124">
                <a:solidFill>
                  <a:srgbClr val="5E98F1"/>
                </a:solidFill>
                <a:latin typeface="Overpass" pitchFamily="34" charset="0"/>
                <a:ea typeface="Overpass" pitchFamily="34" charset="-122"/>
                <a:cs typeface="Overpass" pitchFamily="34" charset="-120"/>
              </a:rPr>
              <a:t>more candor, and more unashamed </a:t>
            </a:r>
            <a:r>
              <a:rPr b="1" dirty="0" sz="4117" kern="0" lang="en-US" spc="-124">
                <a:solidFill>
                  <a:srgbClr val="F9D933"/>
                </a:solidFill>
                <a:latin typeface="Overpass" pitchFamily="34" charset="0"/>
                <a:ea typeface="Overpass" pitchFamily="34" charset="-122"/>
                <a:cs typeface="Overpass" pitchFamily="34" charset="-120"/>
              </a:rPr>
              <a:t>conversations</a:t>
            </a:r>
            <a:r>
              <a:rPr b="1" dirty="0" sz="4117" kern="0" lang="en-US" spc="-124">
                <a:solidFill>
                  <a:srgbClr val="FFFFFF"/>
                </a:solidFill>
                <a:latin typeface="Overpass" pitchFamily="34" charset="0"/>
                <a:ea typeface="Overpass" pitchFamily="34" charset="-122"/>
                <a:cs typeface="Overpass" pitchFamily="34" charset="-120"/>
              </a:rPr>
              <a:t>" Glenn Liose</a:t>
            </a:r>
            <a:endParaRPr dirty="0" sz="4117" lang="en-US"/>
          </a:p>
        </p:txBody>
      </p:sp>
      <p:pic>
        <p:nvPicPr>
          <p:cNvPr id="2097155" name="Image 0" descr="preencoded.png">
            <a:hlinkClick r:id="rId1" tooltip=""/>
          </p:cNvPr>
          <p:cNvPicPr>
            <a:picLocks noChangeAspect="1"/>
          </p:cNvPicPr>
          <p:nvPr/>
        </p:nvPicPr>
        <p:blipFill>
          <a:blip xmlns:r="http://schemas.openxmlformats.org/officeDocument/2006/relationships" r:embed="rId2"/>
          <a:stretch>
            <a:fillRect/>
          </a:stretch>
        </p:blipFill>
        <p:spPr>
          <a:xfrm>
            <a:off x="12242153" y="7589520"/>
            <a:ext cx="2296807" cy="548640"/>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2" name=""/>
        <p:cNvGrpSpPr/>
        <p:nvPr/>
      </p:nvGrpSpPr>
      <p:grpSpPr>
        <a:xfrm>
          <a:off x="0" y="0"/>
          <a:ext cx="0" cy="0"/>
          <a:chOff x="0" y="0"/>
          <a:chExt cx="0" cy="0"/>
        </a:xfrm>
      </p:grpSpPr>
      <p:sp>
        <p:nvSpPr>
          <p:cNvPr id="1048592" name="Shape 0"/>
          <p:cNvSpPr/>
          <p:nvPr/>
        </p:nvSpPr>
        <p:spPr>
          <a:xfrm>
            <a:off x="0" y="0"/>
            <a:ext cx="14630400" cy="8229600"/>
          </a:xfrm>
          <a:prstGeom prst="rect"/>
          <a:solidFill>
            <a:srgbClr val="EADEDA"/>
          </a:solidFill>
        </p:spPr>
      </p:sp>
      <p:sp>
        <p:nvSpPr>
          <p:cNvPr id="1048593" name="Shape 1"/>
          <p:cNvSpPr/>
          <p:nvPr/>
        </p:nvSpPr>
        <p:spPr>
          <a:xfrm>
            <a:off x="0" y="0"/>
            <a:ext cx="14630400" cy="8229600"/>
          </a:xfrm>
          <a:prstGeom prst="rect"/>
          <a:solidFill>
            <a:srgbClr val="0C0C0C"/>
          </a:solidFill>
        </p:spPr>
      </p:sp>
      <p:sp>
        <p:nvSpPr>
          <p:cNvPr id="1048594" name="Text 2"/>
          <p:cNvSpPr/>
          <p:nvPr/>
        </p:nvSpPr>
        <p:spPr>
          <a:xfrm>
            <a:off x="2348389" y="1171456"/>
            <a:ext cx="5228153" cy="653415"/>
          </a:xfrm>
          <a:prstGeom prst="rect"/>
          <a:noFill/>
        </p:spPr>
        <p:txBody>
          <a:bodyPr anchor="t" rtlCol="0" wrap="non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The Problem</a:t>
            </a:r>
            <a:endParaRPr dirty="0" sz="4117" lang="en-US"/>
          </a:p>
        </p:txBody>
      </p:sp>
      <p:pic>
        <p:nvPicPr>
          <p:cNvPr id="2097156" name="Image 0" descr="preencoded.png"/>
          <p:cNvPicPr>
            <a:picLocks noChangeAspect="1"/>
          </p:cNvPicPr>
          <p:nvPr/>
        </p:nvPicPr>
        <p:blipFill>
          <a:blip xmlns:r="http://schemas.openxmlformats.org/officeDocument/2006/relationships" r:embed="rId1"/>
          <a:stretch>
            <a:fillRect/>
          </a:stretch>
        </p:blipFill>
        <p:spPr>
          <a:xfrm>
            <a:off x="2348389" y="2269212"/>
            <a:ext cx="555427" cy="555427"/>
          </a:xfrm>
          <a:prstGeom prst="rect"/>
        </p:spPr>
      </p:pic>
      <p:sp>
        <p:nvSpPr>
          <p:cNvPr id="1048595" name="Text 3"/>
          <p:cNvSpPr/>
          <p:nvPr/>
        </p:nvSpPr>
        <p:spPr>
          <a:xfrm>
            <a:off x="2348389" y="3046809"/>
            <a:ext cx="3088958" cy="653653"/>
          </a:xfrm>
          <a:prstGeom prst="rect"/>
          <a:noFill/>
        </p:spPr>
        <p:txBody>
          <a:bodyPr anchor="t" rtlCol="0" wrap="square"/>
          <a:p>
            <a:pPr algn="l" indent="0" marL="0">
              <a:lnSpc>
                <a:spcPts val="2573"/>
              </a:lnSpc>
              <a:buNone/>
            </a:pPr>
            <a:r>
              <a:rPr b="1" dirty="0" sz="2058" kern="0" lang="en-US" spc="-62">
                <a:solidFill>
                  <a:srgbClr val="F20374"/>
                </a:solidFill>
                <a:latin typeface="Overpass" pitchFamily="34" charset="0"/>
                <a:ea typeface="Overpass" pitchFamily="34" charset="-122"/>
                <a:cs typeface="Overpass" pitchFamily="34" charset="-120"/>
              </a:rPr>
              <a:t>Academic Pressure and Stress</a:t>
            </a:r>
            <a:endParaRPr dirty="0" sz="2058" lang="en-US"/>
          </a:p>
        </p:txBody>
      </p:sp>
      <p:sp>
        <p:nvSpPr>
          <p:cNvPr id="1048596" name="Text 4"/>
          <p:cNvSpPr/>
          <p:nvPr/>
        </p:nvSpPr>
        <p:spPr>
          <a:xfrm>
            <a:off x="2348389" y="3833693"/>
            <a:ext cx="3088958" cy="333256"/>
          </a:xfrm>
          <a:prstGeom prst="rect"/>
          <a:noFill/>
        </p:spPr>
        <p:txBody>
          <a:bodyPr anchor="t" rtlCol="0" wrap="none"/>
          <a:p>
            <a:pPr algn="l" indent="0" marL="0">
              <a:lnSpc>
                <a:spcPts val="2624"/>
              </a:lnSpc>
              <a:buNone/>
            </a:pPr>
            <a:endParaRPr dirty="0" sz="1750" lang="en-US"/>
          </a:p>
        </p:txBody>
      </p:sp>
      <p:pic>
        <p:nvPicPr>
          <p:cNvPr id="2097157" name="Image 1" descr="preencoded.png"/>
          <p:cNvPicPr>
            <a:picLocks noChangeAspect="1"/>
          </p:cNvPicPr>
          <p:nvPr/>
        </p:nvPicPr>
        <p:blipFill>
          <a:blip xmlns:r="http://schemas.openxmlformats.org/officeDocument/2006/relationships" r:embed="rId2"/>
          <a:stretch>
            <a:fillRect/>
          </a:stretch>
        </p:blipFill>
        <p:spPr>
          <a:xfrm>
            <a:off x="5770602" y="2269212"/>
            <a:ext cx="555427" cy="555427"/>
          </a:xfrm>
          <a:prstGeom prst="rect"/>
        </p:spPr>
      </p:pic>
      <p:sp>
        <p:nvSpPr>
          <p:cNvPr id="1048597" name="Text 5"/>
          <p:cNvSpPr/>
          <p:nvPr/>
        </p:nvSpPr>
        <p:spPr>
          <a:xfrm>
            <a:off x="5770602" y="3046809"/>
            <a:ext cx="3088958" cy="653653"/>
          </a:xfrm>
          <a:prstGeom prst="rect"/>
          <a:noFill/>
        </p:spPr>
        <p:txBody>
          <a:bodyPr anchor="t" rtlCol="0" wrap="square"/>
          <a:p>
            <a:pPr algn="l" indent="0" marL="0">
              <a:lnSpc>
                <a:spcPts val="2573"/>
              </a:lnSpc>
              <a:buNone/>
            </a:pPr>
            <a:r>
              <a:rPr b="1" dirty="0" sz="2058" kern="0" lang="en-US" spc="-62">
                <a:solidFill>
                  <a:srgbClr val="F20374"/>
                </a:solidFill>
                <a:latin typeface="Overpass" pitchFamily="34" charset="0"/>
                <a:ea typeface="Overpass" pitchFamily="34" charset="-122"/>
                <a:cs typeface="Overpass" pitchFamily="34" charset="-120"/>
              </a:rPr>
              <a:t>Unhealthy Coping Mechanisms</a:t>
            </a:r>
            <a:r>
              <a:rPr b="1" dirty="0" sz="2058" kern="0" lang="en-US" spc="-62">
                <a:solidFill>
                  <a:srgbClr val="E5E0DF"/>
                </a:solidFill>
                <a:latin typeface="Overpass" pitchFamily="34" charset="0"/>
                <a:ea typeface="Overpass" pitchFamily="34" charset="-122"/>
                <a:cs typeface="Overpass" pitchFamily="34" charset="-120"/>
              </a:rPr>
              <a:t> </a:t>
            </a:r>
            <a:endParaRPr dirty="0" sz="2058" lang="en-US"/>
          </a:p>
        </p:txBody>
      </p:sp>
      <p:sp>
        <p:nvSpPr>
          <p:cNvPr id="1048598" name="Text 6"/>
          <p:cNvSpPr/>
          <p:nvPr/>
        </p:nvSpPr>
        <p:spPr>
          <a:xfrm>
            <a:off x="5770602" y="3833693"/>
            <a:ext cx="3088958" cy="333256"/>
          </a:xfrm>
          <a:prstGeom prst="rect"/>
          <a:noFill/>
        </p:spPr>
        <p:txBody>
          <a:bodyPr anchor="t" rtlCol="0" wrap="none"/>
          <a:p>
            <a:pPr algn="l" indent="0" marL="0">
              <a:lnSpc>
                <a:spcPts val="2624"/>
              </a:lnSpc>
              <a:buNone/>
            </a:pPr>
            <a:endParaRPr dirty="0" sz="1750" lang="en-US"/>
          </a:p>
        </p:txBody>
      </p:sp>
      <p:pic>
        <p:nvPicPr>
          <p:cNvPr id="2097158" name="Image 2" descr="preencoded.png"/>
          <p:cNvPicPr>
            <a:picLocks noChangeAspect="1"/>
          </p:cNvPicPr>
          <p:nvPr/>
        </p:nvPicPr>
        <p:blipFill>
          <a:blip xmlns:r="http://schemas.openxmlformats.org/officeDocument/2006/relationships" r:embed="rId3"/>
          <a:stretch>
            <a:fillRect/>
          </a:stretch>
        </p:blipFill>
        <p:spPr>
          <a:xfrm>
            <a:off x="9192816" y="2269212"/>
            <a:ext cx="555427" cy="555427"/>
          </a:xfrm>
          <a:prstGeom prst="rect"/>
        </p:spPr>
      </p:pic>
      <p:sp>
        <p:nvSpPr>
          <p:cNvPr id="1048599" name="Text 7"/>
          <p:cNvSpPr/>
          <p:nvPr/>
        </p:nvSpPr>
        <p:spPr>
          <a:xfrm>
            <a:off x="9192816" y="3046809"/>
            <a:ext cx="3089077" cy="980480"/>
          </a:xfrm>
          <a:prstGeom prst="rect"/>
          <a:noFill/>
        </p:spPr>
        <p:txBody>
          <a:bodyPr anchor="t" rtlCol="0" wrap="square"/>
          <a:p>
            <a:pPr algn="l" indent="0" marL="0">
              <a:lnSpc>
                <a:spcPts val="2573"/>
              </a:lnSpc>
              <a:buNone/>
            </a:pPr>
            <a:r>
              <a:rPr b="1" dirty="0" sz="2058" kern="0" lang="en-US" spc="-62">
                <a:solidFill>
                  <a:srgbClr val="F20374"/>
                </a:solidFill>
                <a:latin typeface="Overpass" pitchFamily="34" charset="0"/>
                <a:ea typeface="Overpass" pitchFamily="34" charset="-122"/>
                <a:cs typeface="Overpass" pitchFamily="34" charset="-120"/>
              </a:rPr>
              <a:t>Inadequate Mental Health Support from Administration</a:t>
            </a:r>
            <a:endParaRPr dirty="0" sz="2058" lang="en-US"/>
          </a:p>
        </p:txBody>
      </p:sp>
      <p:sp>
        <p:nvSpPr>
          <p:cNvPr id="1048600" name="Text 8"/>
          <p:cNvSpPr/>
          <p:nvPr/>
        </p:nvSpPr>
        <p:spPr>
          <a:xfrm>
            <a:off x="9192816" y="4160520"/>
            <a:ext cx="3089077" cy="333256"/>
          </a:xfrm>
          <a:prstGeom prst="rect"/>
          <a:noFill/>
        </p:spPr>
        <p:txBody>
          <a:bodyPr anchor="t" rtlCol="0" wrap="none"/>
          <a:p>
            <a:pPr algn="l" indent="0" marL="0">
              <a:lnSpc>
                <a:spcPts val="2624"/>
              </a:lnSpc>
              <a:buNone/>
            </a:pPr>
            <a:endParaRPr dirty="0" sz="1750" lang="en-US"/>
          </a:p>
        </p:txBody>
      </p:sp>
      <p:pic>
        <p:nvPicPr>
          <p:cNvPr id="2097159" name="Image 3" descr="preencoded.png"/>
          <p:cNvPicPr>
            <a:picLocks noChangeAspect="1"/>
          </p:cNvPicPr>
          <p:nvPr/>
        </p:nvPicPr>
        <p:blipFill>
          <a:blip xmlns:r="http://schemas.openxmlformats.org/officeDocument/2006/relationships" r:embed="rId4"/>
          <a:stretch>
            <a:fillRect/>
          </a:stretch>
        </p:blipFill>
        <p:spPr>
          <a:xfrm>
            <a:off x="2348389" y="5160288"/>
            <a:ext cx="555427" cy="555427"/>
          </a:xfrm>
          <a:prstGeom prst="rect"/>
        </p:spPr>
      </p:pic>
      <p:sp>
        <p:nvSpPr>
          <p:cNvPr id="1048601" name="Text 9"/>
          <p:cNvSpPr/>
          <p:nvPr/>
        </p:nvSpPr>
        <p:spPr>
          <a:xfrm>
            <a:off x="2348389" y="5937885"/>
            <a:ext cx="3088958" cy="653653"/>
          </a:xfrm>
          <a:prstGeom prst="rect"/>
          <a:noFill/>
        </p:spPr>
        <p:txBody>
          <a:bodyPr anchor="t" rtlCol="0" wrap="square"/>
          <a:p>
            <a:pPr algn="l" indent="0" marL="0">
              <a:lnSpc>
                <a:spcPts val="2573"/>
              </a:lnSpc>
              <a:buNone/>
            </a:pPr>
            <a:r>
              <a:rPr b="1" dirty="0" sz="2058" kern="0" lang="en-US" spc="-62">
                <a:solidFill>
                  <a:srgbClr val="F20374"/>
                </a:solidFill>
                <a:latin typeface="Overpass" pitchFamily="34" charset="0"/>
                <a:ea typeface="Overpass" pitchFamily="34" charset="-122"/>
                <a:cs typeface="Overpass" pitchFamily="34" charset="-120"/>
              </a:rPr>
              <a:t>Lack of Peer Support Networks</a:t>
            </a:r>
            <a:endParaRPr dirty="0" sz="2058" lang="en-US"/>
          </a:p>
        </p:txBody>
      </p:sp>
      <p:sp>
        <p:nvSpPr>
          <p:cNvPr id="1048602" name="Text 10"/>
          <p:cNvSpPr/>
          <p:nvPr/>
        </p:nvSpPr>
        <p:spPr>
          <a:xfrm>
            <a:off x="2348389" y="6724769"/>
            <a:ext cx="3088958" cy="333256"/>
          </a:xfrm>
          <a:prstGeom prst="rect"/>
          <a:noFill/>
        </p:spPr>
        <p:txBody>
          <a:bodyPr anchor="t" rtlCol="0" wrap="none"/>
          <a:p>
            <a:pPr algn="l" indent="0" marL="0">
              <a:lnSpc>
                <a:spcPts val="2624"/>
              </a:lnSpc>
              <a:buNone/>
            </a:pPr>
            <a:endParaRPr dirty="0" sz="1750" lang="en-US"/>
          </a:p>
        </p:txBody>
      </p:sp>
      <p:pic>
        <p:nvPicPr>
          <p:cNvPr id="2097160" name="Image 4" descr="preencoded.png"/>
          <p:cNvPicPr>
            <a:picLocks noChangeAspect="1"/>
          </p:cNvPicPr>
          <p:nvPr/>
        </p:nvPicPr>
        <p:blipFill>
          <a:blip xmlns:r="http://schemas.openxmlformats.org/officeDocument/2006/relationships" r:embed="rId5"/>
          <a:stretch>
            <a:fillRect/>
          </a:stretch>
        </p:blipFill>
        <p:spPr>
          <a:xfrm>
            <a:off x="5770602" y="5160288"/>
            <a:ext cx="555427" cy="555427"/>
          </a:xfrm>
          <a:prstGeom prst="rect"/>
        </p:spPr>
      </p:pic>
      <p:sp>
        <p:nvSpPr>
          <p:cNvPr id="1048603" name="Text 11"/>
          <p:cNvSpPr/>
          <p:nvPr/>
        </p:nvSpPr>
        <p:spPr>
          <a:xfrm>
            <a:off x="5770602" y="5937885"/>
            <a:ext cx="3088958" cy="653653"/>
          </a:xfrm>
          <a:prstGeom prst="rect"/>
          <a:noFill/>
        </p:spPr>
        <p:txBody>
          <a:bodyPr anchor="t" rtlCol="0" wrap="square"/>
          <a:p>
            <a:pPr algn="l" indent="0" marL="0">
              <a:lnSpc>
                <a:spcPts val="2573"/>
              </a:lnSpc>
              <a:buNone/>
            </a:pPr>
            <a:r>
              <a:rPr b="1" dirty="0" sz="2058" kern="0" lang="en-US" spc="-62">
                <a:solidFill>
                  <a:srgbClr val="F20374"/>
                </a:solidFill>
                <a:latin typeface="Overpass" pitchFamily="34" charset="0"/>
                <a:ea typeface="Overpass" pitchFamily="34" charset="-122"/>
                <a:cs typeface="Overpass" pitchFamily="34" charset="-120"/>
              </a:rPr>
              <a:t>Suicide Risk and Prevention</a:t>
            </a:r>
            <a:endParaRPr dirty="0" sz="2058" lang="en-US"/>
          </a:p>
        </p:txBody>
      </p:sp>
      <p:sp>
        <p:nvSpPr>
          <p:cNvPr id="1048604" name="Text 12"/>
          <p:cNvSpPr/>
          <p:nvPr/>
        </p:nvSpPr>
        <p:spPr>
          <a:xfrm>
            <a:off x="5770602" y="6724769"/>
            <a:ext cx="3088958" cy="333256"/>
          </a:xfrm>
          <a:prstGeom prst="rect"/>
          <a:noFill/>
        </p:spPr>
        <p:txBody>
          <a:bodyPr anchor="t" rtlCol="0" wrap="none"/>
          <a:p>
            <a:pPr algn="l" indent="0" marL="0">
              <a:lnSpc>
                <a:spcPts val="2624"/>
              </a:lnSpc>
              <a:buNone/>
            </a:pPr>
            <a:endParaRPr dirty="0" sz="1750" lang="en-US"/>
          </a:p>
        </p:txBody>
      </p:sp>
      <p:pic>
        <p:nvPicPr>
          <p:cNvPr id="2097161" name="Image 5" descr="preencoded.png">
            <a:hlinkClick r:id="rId6" tooltip=""/>
          </p:cNvPr>
          <p:cNvPicPr>
            <a:picLocks noChangeAspect="1"/>
          </p:cNvPicPr>
          <p:nvPr/>
        </p:nvPicPr>
        <p:blipFill>
          <a:blip xmlns:r="http://schemas.openxmlformats.org/officeDocument/2006/relationships" r:embed="rId7"/>
          <a:stretch>
            <a:fillRect/>
          </a:stretch>
        </p:blipFill>
        <p:spPr>
          <a:xfrm>
            <a:off x="12242153" y="7589520"/>
            <a:ext cx="2296807" cy="548640"/>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5" name=""/>
        <p:cNvGrpSpPr/>
        <p:nvPr/>
      </p:nvGrpSpPr>
      <p:grpSpPr>
        <a:xfrm>
          <a:off x="0" y="0"/>
          <a:ext cx="0" cy="0"/>
          <a:chOff x="0" y="0"/>
          <a:chExt cx="0" cy="0"/>
        </a:xfrm>
      </p:grpSpPr>
      <p:sp>
        <p:nvSpPr>
          <p:cNvPr id="1048608" name="Shape 0"/>
          <p:cNvSpPr/>
          <p:nvPr/>
        </p:nvSpPr>
        <p:spPr>
          <a:xfrm>
            <a:off x="0" y="0"/>
            <a:ext cx="14630400" cy="8229600"/>
          </a:xfrm>
          <a:prstGeom prst="rect"/>
          <a:solidFill>
            <a:srgbClr val="EADEDA"/>
          </a:solidFill>
        </p:spPr>
      </p:sp>
      <p:sp>
        <p:nvSpPr>
          <p:cNvPr id="1048609" name="Shape 1"/>
          <p:cNvSpPr/>
          <p:nvPr/>
        </p:nvSpPr>
        <p:spPr>
          <a:xfrm>
            <a:off x="0" y="0"/>
            <a:ext cx="14630400" cy="8229600"/>
          </a:xfrm>
          <a:prstGeom prst="rect"/>
          <a:solidFill>
            <a:srgbClr val="FFFFFF"/>
          </a:solidFill>
        </p:spPr>
      </p:sp>
      <p:sp>
        <p:nvSpPr>
          <p:cNvPr id="1048610" name="Text 2"/>
          <p:cNvSpPr/>
          <p:nvPr/>
        </p:nvSpPr>
        <p:spPr>
          <a:xfrm>
            <a:off x="2482691" y="596146"/>
            <a:ext cx="5086826" cy="635794"/>
          </a:xfrm>
          <a:prstGeom prst="rect"/>
          <a:noFill/>
        </p:spPr>
        <p:txBody>
          <a:bodyPr anchor="t" rtlCol="0" wrap="none"/>
          <a:p>
            <a:pPr indent="0" marL="0">
              <a:lnSpc>
                <a:spcPts val="5007"/>
              </a:lnSpc>
              <a:buNone/>
            </a:pPr>
            <a:r>
              <a:rPr b="1" dirty="0" sz="4005" kern="0" lang="en-US" spc="-120">
                <a:solidFill>
                  <a:srgbClr val="000000"/>
                </a:solidFill>
                <a:latin typeface="Overpass" pitchFamily="34" charset="0"/>
                <a:ea typeface="Overpass" pitchFamily="34" charset="-122"/>
                <a:cs typeface="Overpass" pitchFamily="34" charset="-120"/>
              </a:rPr>
              <a:t>The Solution</a:t>
            </a:r>
            <a:endParaRPr dirty="0" sz="4005" lang="en-US"/>
          </a:p>
        </p:txBody>
      </p:sp>
      <p:pic>
        <p:nvPicPr>
          <p:cNvPr id="2097162" name="Image 0" descr="preencoded.png"/>
          <p:cNvPicPr>
            <a:picLocks noChangeAspect="1"/>
          </p:cNvPicPr>
          <p:nvPr/>
        </p:nvPicPr>
        <p:blipFill>
          <a:blip xmlns:r="http://schemas.openxmlformats.org/officeDocument/2006/relationships" r:embed="rId1"/>
          <a:stretch>
            <a:fillRect/>
          </a:stretch>
        </p:blipFill>
        <p:spPr>
          <a:xfrm>
            <a:off x="2482691" y="1664256"/>
            <a:ext cx="540425" cy="540425"/>
          </a:xfrm>
          <a:prstGeom prst="rect"/>
        </p:spPr>
      </p:pic>
      <p:sp>
        <p:nvSpPr>
          <p:cNvPr id="1048611" name="Text 3"/>
          <p:cNvSpPr/>
          <p:nvPr/>
        </p:nvSpPr>
        <p:spPr>
          <a:xfrm>
            <a:off x="2482691" y="2420779"/>
            <a:ext cx="2752011" cy="317897"/>
          </a:xfrm>
          <a:prstGeom prst="rect"/>
          <a:noFill/>
        </p:spPr>
        <p:txBody>
          <a:bodyPr anchor="t" rtlCol="0" wrap="none"/>
          <a:p>
            <a:pPr algn="l" indent="0" marL="0">
              <a:lnSpc>
                <a:spcPts val="2503"/>
              </a:lnSpc>
              <a:buNone/>
            </a:pPr>
            <a:r>
              <a:rPr b="1" dirty="0" sz="2003" kern="0" lang="en-US" spc="-60">
                <a:solidFill>
                  <a:srgbClr val="272525"/>
                </a:solidFill>
                <a:latin typeface="Overpass" pitchFamily="34" charset="0"/>
                <a:ea typeface="Overpass" pitchFamily="34" charset="-122"/>
                <a:cs typeface="Overpass" pitchFamily="34" charset="-120"/>
              </a:rPr>
              <a:t>Training peer counselors</a:t>
            </a:r>
            <a:endParaRPr dirty="0" sz="2003" lang="en-US"/>
          </a:p>
        </p:txBody>
      </p:sp>
      <p:sp>
        <p:nvSpPr>
          <p:cNvPr id="1048612" name="Text 4"/>
          <p:cNvSpPr/>
          <p:nvPr/>
        </p:nvSpPr>
        <p:spPr>
          <a:xfrm>
            <a:off x="2482691" y="2868335"/>
            <a:ext cx="4670346" cy="648653"/>
          </a:xfrm>
          <a:prstGeom prst="rect"/>
          <a:noFill/>
        </p:spPr>
        <p:txBody>
          <a:bodyPr anchor="t" rtlCol="0" wrap="square"/>
          <a:p>
            <a:pPr algn="l" indent="0" marL="0">
              <a:lnSpc>
                <a:spcPts val="2553"/>
              </a:lnSpc>
              <a:buNone/>
            </a:pPr>
            <a:r>
              <a:rPr dirty="0" sz="1702" lang="en-US">
                <a:solidFill>
                  <a:srgbClr val="272525"/>
                </a:solidFill>
                <a:latin typeface="Overpass" pitchFamily="34" charset="0"/>
                <a:ea typeface="Overpass" pitchFamily="34" charset="-122"/>
                <a:cs typeface="Overpass" pitchFamily="34" charset="-120"/>
              </a:rPr>
              <a:t>Equip individuals with skills to guide and support their peers.</a:t>
            </a:r>
            <a:endParaRPr dirty="0" sz="1702" lang="en-US"/>
          </a:p>
        </p:txBody>
      </p:sp>
      <p:pic>
        <p:nvPicPr>
          <p:cNvPr id="2097163" name="Image 1" descr="preencoded.png"/>
          <p:cNvPicPr>
            <a:picLocks noChangeAspect="1"/>
          </p:cNvPicPr>
          <p:nvPr/>
        </p:nvPicPr>
        <p:blipFill>
          <a:blip xmlns:r="http://schemas.openxmlformats.org/officeDocument/2006/relationships" r:embed="rId2"/>
          <a:stretch>
            <a:fillRect/>
          </a:stretch>
        </p:blipFill>
        <p:spPr>
          <a:xfrm>
            <a:off x="7477244" y="1664256"/>
            <a:ext cx="540425" cy="540425"/>
          </a:xfrm>
          <a:prstGeom prst="rect"/>
        </p:spPr>
      </p:pic>
      <p:sp>
        <p:nvSpPr>
          <p:cNvPr id="1048613" name="Text 5"/>
          <p:cNvSpPr/>
          <p:nvPr/>
        </p:nvSpPr>
        <p:spPr>
          <a:xfrm>
            <a:off x="7477244" y="2420779"/>
            <a:ext cx="3089315" cy="317897"/>
          </a:xfrm>
          <a:prstGeom prst="rect"/>
          <a:noFill/>
        </p:spPr>
        <p:txBody>
          <a:bodyPr anchor="t" rtlCol="0" wrap="none"/>
          <a:p>
            <a:pPr algn="l" indent="0" marL="0">
              <a:lnSpc>
                <a:spcPts val="2503"/>
              </a:lnSpc>
              <a:buNone/>
            </a:pPr>
            <a:r>
              <a:rPr b="1" dirty="0" sz="2003" kern="0" lang="en-US" spc="-60">
                <a:solidFill>
                  <a:srgbClr val="272525"/>
                </a:solidFill>
                <a:latin typeface="Overpass" pitchFamily="34" charset="0"/>
                <a:ea typeface="Overpass" pitchFamily="34" charset="-122"/>
                <a:cs typeface="Overpass" pitchFamily="34" charset="-120"/>
              </a:rPr>
              <a:t>Advocacy for Mental Health</a:t>
            </a:r>
            <a:endParaRPr dirty="0" sz="2003" lang="en-US"/>
          </a:p>
        </p:txBody>
      </p:sp>
      <p:sp>
        <p:nvSpPr>
          <p:cNvPr id="1048614" name="Text 6"/>
          <p:cNvSpPr/>
          <p:nvPr/>
        </p:nvSpPr>
        <p:spPr>
          <a:xfrm>
            <a:off x="7477244" y="2868335"/>
            <a:ext cx="4670465" cy="972979"/>
          </a:xfrm>
          <a:prstGeom prst="rect"/>
          <a:noFill/>
        </p:spPr>
        <p:txBody>
          <a:bodyPr anchor="t" rtlCol="0" wrap="square"/>
          <a:p>
            <a:pPr algn="l" indent="0" marL="0">
              <a:lnSpc>
                <a:spcPts val="2553"/>
              </a:lnSpc>
              <a:buNone/>
            </a:pPr>
            <a:r>
              <a:rPr dirty="0" sz="1702" lang="en-US">
                <a:solidFill>
                  <a:srgbClr val="272525"/>
                </a:solidFill>
                <a:latin typeface="Overpass" pitchFamily="34" charset="0"/>
                <a:ea typeface="Overpass" pitchFamily="34" charset="-122"/>
                <a:cs typeface="Overpass" pitchFamily="34" charset="-120"/>
              </a:rPr>
              <a:t>Advocate for the administration to implement policies and practices that promote student mental well-being.</a:t>
            </a:r>
            <a:endParaRPr dirty="0" sz="1702" lang="en-US"/>
          </a:p>
        </p:txBody>
      </p:sp>
      <p:pic>
        <p:nvPicPr>
          <p:cNvPr id="2097164" name="Image 2" descr="preencoded.png"/>
          <p:cNvPicPr>
            <a:picLocks noChangeAspect="1"/>
          </p:cNvPicPr>
          <p:nvPr/>
        </p:nvPicPr>
        <p:blipFill>
          <a:blip xmlns:r="http://schemas.openxmlformats.org/officeDocument/2006/relationships" r:embed="rId3"/>
          <a:stretch>
            <a:fillRect/>
          </a:stretch>
        </p:blipFill>
        <p:spPr>
          <a:xfrm>
            <a:off x="2482691" y="4489847"/>
            <a:ext cx="540425" cy="540425"/>
          </a:xfrm>
          <a:prstGeom prst="rect"/>
        </p:spPr>
      </p:pic>
      <p:sp>
        <p:nvSpPr>
          <p:cNvPr id="1048615" name="Text 7"/>
          <p:cNvSpPr/>
          <p:nvPr/>
        </p:nvSpPr>
        <p:spPr>
          <a:xfrm>
            <a:off x="2482691" y="5246370"/>
            <a:ext cx="3009781" cy="317897"/>
          </a:xfrm>
          <a:prstGeom prst="rect"/>
          <a:noFill/>
        </p:spPr>
        <p:txBody>
          <a:bodyPr anchor="t" rtlCol="0" wrap="none"/>
          <a:p>
            <a:pPr algn="l" indent="0" marL="0">
              <a:lnSpc>
                <a:spcPts val="2503"/>
              </a:lnSpc>
              <a:buNone/>
            </a:pPr>
            <a:r>
              <a:rPr b="1" dirty="0" sz="2003" kern="0" lang="en-US" spc="-60">
                <a:solidFill>
                  <a:srgbClr val="272525"/>
                </a:solidFill>
                <a:latin typeface="Overpass" pitchFamily="34" charset="0"/>
                <a:ea typeface="Overpass" pitchFamily="34" charset="-122"/>
                <a:cs typeface="Overpass" pitchFamily="34" charset="-120"/>
              </a:rPr>
              <a:t>Creation of Support Groups</a:t>
            </a:r>
            <a:endParaRPr dirty="0" sz="2003" lang="en-US"/>
          </a:p>
        </p:txBody>
      </p:sp>
      <p:sp>
        <p:nvSpPr>
          <p:cNvPr id="1048616" name="Text 8"/>
          <p:cNvSpPr/>
          <p:nvPr/>
        </p:nvSpPr>
        <p:spPr>
          <a:xfrm>
            <a:off x="2482691" y="5693926"/>
            <a:ext cx="4670346" cy="972979"/>
          </a:xfrm>
          <a:prstGeom prst="rect"/>
          <a:noFill/>
        </p:spPr>
        <p:txBody>
          <a:bodyPr anchor="t" rtlCol="0" wrap="square"/>
          <a:p>
            <a:pPr algn="l" indent="0" marL="0">
              <a:lnSpc>
                <a:spcPts val="2553"/>
              </a:lnSpc>
              <a:buNone/>
            </a:pPr>
            <a:r>
              <a:rPr dirty="0" sz="1702" lang="en-US">
                <a:solidFill>
                  <a:srgbClr val="272525"/>
                </a:solidFill>
                <a:latin typeface="Overpass" pitchFamily="34" charset="0"/>
                <a:ea typeface="Overpass" pitchFamily="34" charset="-122"/>
                <a:cs typeface="Overpass" pitchFamily="34" charset="-120"/>
              </a:rPr>
              <a:t>Create close-knit support groups and organize regular meets where students can connect with peers facing similar challenges.</a:t>
            </a:r>
            <a:endParaRPr dirty="0" sz="1702" lang="en-US"/>
          </a:p>
        </p:txBody>
      </p:sp>
      <p:pic>
        <p:nvPicPr>
          <p:cNvPr id="2097165" name="Image 3" descr="preencoded.png"/>
          <p:cNvPicPr>
            <a:picLocks noChangeAspect="1"/>
          </p:cNvPicPr>
          <p:nvPr/>
        </p:nvPicPr>
        <p:blipFill>
          <a:blip xmlns:r="http://schemas.openxmlformats.org/officeDocument/2006/relationships" r:embed="rId4"/>
          <a:stretch>
            <a:fillRect/>
          </a:stretch>
        </p:blipFill>
        <p:spPr>
          <a:xfrm>
            <a:off x="7477244" y="4489847"/>
            <a:ext cx="540425" cy="540425"/>
          </a:xfrm>
          <a:prstGeom prst="rect"/>
        </p:spPr>
      </p:pic>
      <p:sp>
        <p:nvSpPr>
          <p:cNvPr id="1048617" name="Text 9"/>
          <p:cNvSpPr/>
          <p:nvPr/>
        </p:nvSpPr>
        <p:spPr>
          <a:xfrm>
            <a:off x="7477244" y="5246370"/>
            <a:ext cx="4670465" cy="635794"/>
          </a:xfrm>
          <a:prstGeom prst="rect"/>
          <a:noFill/>
        </p:spPr>
        <p:txBody>
          <a:bodyPr anchor="t" rtlCol="0" wrap="square"/>
          <a:p>
            <a:pPr algn="l" indent="0" marL="0">
              <a:lnSpc>
                <a:spcPts val="2503"/>
              </a:lnSpc>
              <a:buNone/>
            </a:pPr>
            <a:r>
              <a:rPr b="1" dirty="0" sz="2003" kern="0" lang="en-US" spc="-60">
                <a:solidFill>
                  <a:srgbClr val="272525"/>
                </a:solidFill>
                <a:latin typeface="Overpass" pitchFamily="34" charset="0"/>
                <a:ea typeface="Overpass" pitchFamily="34" charset="-122"/>
                <a:cs typeface="Overpass" pitchFamily="34" charset="-120"/>
              </a:rPr>
              <a:t>Capacity Building for Healthy Coping Mechanisms</a:t>
            </a:r>
            <a:endParaRPr dirty="0" sz="2003" lang="en-US"/>
          </a:p>
        </p:txBody>
      </p:sp>
      <p:sp>
        <p:nvSpPr>
          <p:cNvPr id="1048618" name="Text 10"/>
          <p:cNvSpPr/>
          <p:nvPr/>
        </p:nvSpPr>
        <p:spPr>
          <a:xfrm>
            <a:off x="7477244" y="6011823"/>
            <a:ext cx="4670465" cy="1621631"/>
          </a:xfrm>
          <a:prstGeom prst="rect"/>
          <a:noFill/>
        </p:spPr>
        <p:txBody>
          <a:bodyPr anchor="t" rtlCol="0" wrap="square"/>
          <a:p>
            <a:pPr algn="l" indent="0" marL="0">
              <a:lnSpc>
                <a:spcPts val="2553"/>
              </a:lnSpc>
              <a:buNone/>
            </a:pPr>
            <a:r>
              <a:rPr dirty="0" sz="1702" lang="en-US">
                <a:solidFill>
                  <a:srgbClr val="272525"/>
                </a:solidFill>
                <a:latin typeface="Overpass" pitchFamily="34" charset="0"/>
                <a:ea typeface="Overpass" pitchFamily="34" charset="-122"/>
                <a:cs typeface="Overpass" pitchFamily="34" charset="-120"/>
              </a:rPr>
              <a:t>Hold workshops to equip individuals with the skills, knowledge, and resources necessary to effectively manage stress, emotions, and mental health challenges in a positive and constructive manner.</a:t>
            </a:r>
            <a:endParaRPr dirty="0" sz="1702" lang="en-US"/>
          </a:p>
        </p:txBody>
      </p:sp>
      <p:pic>
        <p:nvPicPr>
          <p:cNvPr id="2097166" name="Image 4" descr="preencoded.png">
            <a:hlinkClick r:id="rId5" tooltip=""/>
          </p:cNvPr>
          <p:cNvPicPr>
            <a:picLocks noChangeAspect="1"/>
          </p:cNvPicPr>
          <p:nvPr/>
        </p:nvPicPr>
        <p:blipFill>
          <a:blip xmlns:r="http://schemas.openxmlformats.org/officeDocument/2006/relationships" r:embed="rId6"/>
          <a:stretch>
            <a:fillRect/>
          </a:stretch>
        </p:blipFill>
        <p:spPr>
          <a:xfrm>
            <a:off x="12242153" y="7589520"/>
            <a:ext cx="2296807" cy="548640"/>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8" name=""/>
        <p:cNvGrpSpPr/>
        <p:nvPr/>
      </p:nvGrpSpPr>
      <p:grpSpPr>
        <a:xfrm>
          <a:off x="0" y="0"/>
          <a:ext cx="0" cy="0"/>
          <a:chOff x="0" y="0"/>
          <a:chExt cx="0" cy="0"/>
        </a:xfrm>
      </p:grpSpPr>
      <p:sp>
        <p:nvSpPr>
          <p:cNvPr id="1048622" name="Shape 0"/>
          <p:cNvSpPr/>
          <p:nvPr/>
        </p:nvSpPr>
        <p:spPr>
          <a:xfrm>
            <a:off x="0" y="0"/>
            <a:ext cx="14630400" cy="8229600"/>
          </a:xfrm>
          <a:prstGeom prst="rect"/>
          <a:solidFill>
            <a:srgbClr val="EADEDA"/>
          </a:solidFill>
        </p:spPr>
      </p:sp>
      <p:sp>
        <p:nvSpPr>
          <p:cNvPr id="1048623" name="Shape 1"/>
          <p:cNvSpPr/>
          <p:nvPr/>
        </p:nvSpPr>
        <p:spPr>
          <a:xfrm>
            <a:off x="0" y="0"/>
            <a:ext cx="14630400" cy="8229600"/>
          </a:xfrm>
          <a:prstGeom prst="rect"/>
          <a:solidFill>
            <a:srgbClr val="000000"/>
          </a:solidFill>
        </p:spPr>
      </p:sp>
      <p:sp>
        <p:nvSpPr>
          <p:cNvPr id="1048624" name="Text 2"/>
          <p:cNvSpPr/>
          <p:nvPr/>
        </p:nvSpPr>
        <p:spPr>
          <a:xfrm>
            <a:off x="2348389" y="1495306"/>
            <a:ext cx="5282684" cy="653415"/>
          </a:xfrm>
          <a:prstGeom prst="rect"/>
          <a:noFill/>
        </p:spPr>
        <p:txBody>
          <a:bodyPr anchor="t" rtlCol="0" wrap="non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Our Mission and Values</a:t>
            </a:r>
            <a:endParaRPr dirty="0" sz="4117" lang="en-US"/>
          </a:p>
        </p:txBody>
      </p:sp>
      <p:sp>
        <p:nvSpPr>
          <p:cNvPr id="1048625" name="Shape 3"/>
          <p:cNvSpPr/>
          <p:nvPr/>
        </p:nvSpPr>
        <p:spPr>
          <a:xfrm>
            <a:off x="2348389" y="2481977"/>
            <a:ext cx="3163014" cy="4252198"/>
          </a:xfrm>
          <a:prstGeom prst="roundRect">
            <a:avLst>
              <a:gd name="adj" fmla="val 3161"/>
            </a:avLst>
          </a:prstGeom>
          <a:solidFill>
            <a:srgbClr val="7E023C"/>
          </a:solidFill>
          <a:ln w="7620">
            <a:solidFill>
              <a:srgbClr val="971B55"/>
            </a:solidFill>
            <a:prstDash val="solid"/>
          </a:ln>
        </p:spPr>
      </p:sp>
      <p:sp>
        <p:nvSpPr>
          <p:cNvPr id="1048626" name="Text 4"/>
          <p:cNvSpPr/>
          <p:nvPr/>
        </p:nvSpPr>
        <p:spPr>
          <a:xfrm>
            <a:off x="2578179" y="2711768"/>
            <a:ext cx="2614017" cy="326827"/>
          </a:xfrm>
          <a:prstGeom prst="rect"/>
          <a:noFill/>
        </p:spPr>
        <p:txBody>
          <a:bodyPr anchor="t" rtlCol="0" wrap="none"/>
          <a:p>
            <a:pPr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Mission</a:t>
            </a:r>
            <a:endParaRPr dirty="0" sz="2058" lang="en-US"/>
          </a:p>
        </p:txBody>
      </p:sp>
      <p:sp>
        <p:nvSpPr>
          <p:cNvPr id="1048627" name="Text 5"/>
          <p:cNvSpPr/>
          <p:nvPr/>
        </p:nvSpPr>
        <p:spPr>
          <a:xfrm>
            <a:off x="2578179" y="3171825"/>
            <a:ext cx="2703433" cy="1999536"/>
          </a:xfrm>
          <a:prstGeom prst="rect"/>
          <a:noFill/>
        </p:spPr>
        <p:txBody>
          <a:bodyPr anchor="t" rtlCol="0" wrap="square"/>
          <a:p>
            <a:pPr indent="0" marL="0">
              <a:lnSpc>
                <a:spcPts val="2624"/>
              </a:lnSpc>
              <a:buNone/>
            </a:pPr>
            <a:r>
              <a:rPr dirty="0" sz="1750" lang="en-US">
                <a:solidFill>
                  <a:srgbClr val="E5E0DF"/>
                </a:solidFill>
                <a:latin typeface="Overpass" pitchFamily="34" charset="0"/>
                <a:ea typeface="Overpass" pitchFamily="34" charset="-122"/>
                <a:cs typeface="Overpass" pitchFamily="34" charset="-120"/>
              </a:rPr>
              <a:t>We strive to create a supportive and empowering community where all students can discuss their mental health issues.</a:t>
            </a:r>
            <a:endParaRPr dirty="0" sz="1750" lang="en-US"/>
          </a:p>
        </p:txBody>
      </p:sp>
      <p:sp>
        <p:nvSpPr>
          <p:cNvPr id="1048628" name="Shape 6"/>
          <p:cNvSpPr/>
          <p:nvPr/>
        </p:nvSpPr>
        <p:spPr>
          <a:xfrm>
            <a:off x="5733574" y="2481977"/>
            <a:ext cx="3163014" cy="4252198"/>
          </a:xfrm>
          <a:prstGeom prst="roundRect">
            <a:avLst>
              <a:gd name="adj" fmla="val 3161"/>
            </a:avLst>
          </a:prstGeom>
          <a:solidFill>
            <a:srgbClr val="7E023C"/>
          </a:solidFill>
          <a:ln w="7620">
            <a:solidFill>
              <a:srgbClr val="971B55"/>
            </a:solidFill>
            <a:prstDash val="solid"/>
          </a:ln>
        </p:spPr>
      </p:sp>
      <p:sp>
        <p:nvSpPr>
          <p:cNvPr id="1048629" name="Text 7"/>
          <p:cNvSpPr/>
          <p:nvPr/>
        </p:nvSpPr>
        <p:spPr>
          <a:xfrm>
            <a:off x="5963364" y="2711768"/>
            <a:ext cx="2614017" cy="326827"/>
          </a:xfrm>
          <a:prstGeom prst="rect"/>
          <a:noFill/>
        </p:spPr>
        <p:txBody>
          <a:bodyPr anchor="t" rtlCol="0" wrap="none"/>
          <a:p>
            <a:pPr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Values</a:t>
            </a:r>
            <a:endParaRPr dirty="0" sz="2058" lang="en-US"/>
          </a:p>
        </p:txBody>
      </p:sp>
      <p:sp>
        <p:nvSpPr>
          <p:cNvPr id="1048630" name="Text 8"/>
          <p:cNvSpPr/>
          <p:nvPr/>
        </p:nvSpPr>
        <p:spPr>
          <a:xfrm>
            <a:off x="5963364" y="3171825"/>
            <a:ext cx="2703433" cy="3332559"/>
          </a:xfrm>
          <a:prstGeom prst="rect"/>
          <a:noFill/>
        </p:spPr>
        <p:txBody>
          <a:bodyPr anchor="t" rtlCol="0" wrap="square"/>
          <a:p>
            <a:pPr indent="0" marL="0">
              <a:lnSpc>
                <a:spcPts val="2624"/>
              </a:lnSpc>
              <a:buNone/>
            </a:pPr>
            <a:r>
              <a:rPr dirty="0" sz="1750" lang="en-US">
                <a:solidFill>
                  <a:srgbClr val="E5E0DF"/>
                </a:solidFill>
                <a:latin typeface="Overpass" pitchFamily="34" charset="0"/>
                <a:ea typeface="Overpass" pitchFamily="34" charset="-122"/>
                <a:cs typeface="Overpass" pitchFamily="34" charset="-120"/>
              </a:rPr>
              <a:t>We are committed to inclusivity, respect, compassion, and empowerment in all that we do. We believe that everyone deserves to feel supported and valued, regardless of their background or circumstances.</a:t>
            </a:r>
            <a:endParaRPr dirty="0" sz="1750" lang="en-US"/>
          </a:p>
        </p:txBody>
      </p:sp>
      <p:sp>
        <p:nvSpPr>
          <p:cNvPr id="1048631" name="Shape 9"/>
          <p:cNvSpPr/>
          <p:nvPr/>
        </p:nvSpPr>
        <p:spPr>
          <a:xfrm>
            <a:off x="9118759" y="2481977"/>
            <a:ext cx="3163014" cy="4252198"/>
          </a:xfrm>
          <a:prstGeom prst="roundRect">
            <a:avLst>
              <a:gd name="adj" fmla="val 3161"/>
            </a:avLst>
          </a:prstGeom>
          <a:solidFill>
            <a:srgbClr val="7E023C"/>
          </a:solidFill>
          <a:ln w="7620">
            <a:solidFill>
              <a:srgbClr val="971B55"/>
            </a:solidFill>
            <a:prstDash val="solid"/>
          </a:ln>
        </p:spPr>
      </p:sp>
      <p:sp>
        <p:nvSpPr>
          <p:cNvPr id="1048632" name="Text 10"/>
          <p:cNvSpPr/>
          <p:nvPr/>
        </p:nvSpPr>
        <p:spPr>
          <a:xfrm>
            <a:off x="9348549" y="2711768"/>
            <a:ext cx="2614017" cy="326827"/>
          </a:xfrm>
          <a:prstGeom prst="rect"/>
          <a:noFill/>
        </p:spPr>
        <p:txBody>
          <a:bodyPr anchor="t" rtlCol="0" wrap="none"/>
          <a:p>
            <a:pPr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Vision</a:t>
            </a:r>
            <a:endParaRPr dirty="0" sz="2058" lang="en-US"/>
          </a:p>
        </p:txBody>
      </p:sp>
      <p:sp>
        <p:nvSpPr>
          <p:cNvPr id="1048633" name="Text 11"/>
          <p:cNvSpPr/>
          <p:nvPr/>
        </p:nvSpPr>
        <p:spPr>
          <a:xfrm>
            <a:off x="9348549" y="3171825"/>
            <a:ext cx="2703433" cy="1999536"/>
          </a:xfrm>
          <a:prstGeom prst="rect"/>
          <a:noFill/>
        </p:spPr>
        <p:txBody>
          <a:bodyPr anchor="t" rtlCol="0" wrap="square"/>
          <a:p>
            <a:pPr indent="0" marL="0">
              <a:lnSpc>
                <a:spcPts val="2624"/>
              </a:lnSpc>
              <a:buNone/>
            </a:pPr>
            <a:r>
              <a:rPr dirty="0" sz="1750" lang="en-US">
                <a:solidFill>
                  <a:srgbClr val="E5E0DF"/>
                </a:solidFill>
                <a:latin typeface="Overpass" pitchFamily="34" charset="0"/>
                <a:ea typeface="Overpass" pitchFamily="34" charset="-122"/>
                <a:cs typeface="Overpass" pitchFamily="34" charset="-120"/>
              </a:rPr>
              <a:t>We envision a world where mental health is prioritized, and everyone has access to the resources and support they need to thrive.</a:t>
            </a:r>
            <a:endParaRPr dirty="0" sz="1750" lang="en-US"/>
          </a:p>
        </p:txBody>
      </p:sp>
      <p:pic>
        <p:nvPicPr>
          <p:cNvPr id="2097167" name="Image 0" descr="preencoded.png">
            <a:hlinkClick r:id="rId1" tooltip=""/>
          </p:cNvPr>
          <p:cNvPicPr>
            <a:picLocks noChangeAspect="1"/>
          </p:cNvPicPr>
          <p:nvPr/>
        </p:nvPicPr>
        <p:blipFill>
          <a:blip xmlns:r="http://schemas.openxmlformats.org/officeDocument/2006/relationships" r:embed="rId2"/>
          <a:stretch>
            <a:fillRect/>
          </a:stretch>
        </p:blipFill>
        <p:spPr>
          <a:xfrm>
            <a:off x="12242153" y="7589520"/>
            <a:ext cx="2296807" cy="548640"/>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31" name=""/>
        <p:cNvGrpSpPr/>
        <p:nvPr/>
      </p:nvGrpSpPr>
      <p:grpSpPr>
        <a:xfrm>
          <a:off x="0" y="0"/>
          <a:ext cx="0" cy="0"/>
          <a:chOff x="0" y="0"/>
          <a:chExt cx="0" cy="0"/>
        </a:xfrm>
      </p:grpSpPr>
      <p:sp>
        <p:nvSpPr>
          <p:cNvPr id="1048637" name="Shape 0"/>
          <p:cNvSpPr/>
          <p:nvPr/>
        </p:nvSpPr>
        <p:spPr>
          <a:xfrm>
            <a:off x="0" y="0"/>
            <a:ext cx="14630400" cy="8229600"/>
          </a:xfrm>
          <a:prstGeom prst="rect"/>
          <a:solidFill>
            <a:srgbClr val="EADEDA"/>
          </a:solidFill>
        </p:spPr>
      </p:sp>
      <p:sp>
        <p:nvSpPr>
          <p:cNvPr id="1048638" name="Shape 1"/>
          <p:cNvSpPr/>
          <p:nvPr/>
        </p:nvSpPr>
        <p:spPr>
          <a:xfrm>
            <a:off x="0" y="0"/>
            <a:ext cx="14630400" cy="8229600"/>
          </a:xfrm>
          <a:prstGeom prst="rect"/>
          <a:solidFill>
            <a:srgbClr val="0C0C0C"/>
          </a:solidFill>
        </p:spPr>
      </p:sp>
      <p:sp>
        <p:nvSpPr>
          <p:cNvPr id="1048639" name="Text 2"/>
          <p:cNvSpPr/>
          <p:nvPr/>
        </p:nvSpPr>
        <p:spPr>
          <a:xfrm>
            <a:off x="2348389" y="2038469"/>
            <a:ext cx="5228153" cy="653415"/>
          </a:xfrm>
          <a:prstGeom prst="rect"/>
          <a:noFill/>
        </p:spPr>
        <p:txBody>
          <a:bodyPr anchor="t" rtlCol="0" wrap="non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Objectives</a:t>
            </a:r>
            <a:endParaRPr dirty="0" sz="4117" lang="en-US"/>
          </a:p>
        </p:txBody>
      </p:sp>
      <p:sp>
        <p:nvSpPr>
          <p:cNvPr id="1048640" name="Text 3"/>
          <p:cNvSpPr/>
          <p:nvPr/>
        </p:nvSpPr>
        <p:spPr>
          <a:xfrm>
            <a:off x="2348389" y="3136225"/>
            <a:ext cx="9933503" cy="416600"/>
          </a:xfrm>
          <a:prstGeom prst="rect"/>
          <a:noFill/>
        </p:spPr>
        <p:txBody>
          <a:bodyPr anchor="t" rtlCol="0" wrap="none"/>
          <a:p>
            <a:pPr indent="0" marL="0">
              <a:lnSpc>
                <a:spcPts val="3281"/>
              </a:lnSpc>
              <a:buNone/>
            </a:pPr>
            <a:r>
              <a:rPr dirty="0" sz="2187" lang="en-US">
                <a:solidFill>
                  <a:srgbClr val="E5E0DF"/>
                </a:solidFill>
                <a:latin typeface="Overpass" pitchFamily="34" charset="0"/>
                <a:ea typeface="Overpass" pitchFamily="34" charset="-122"/>
                <a:cs typeface="Overpass" pitchFamily="34" charset="-120"/>
              </a:rPr>
              <a:t>Our objectives are:</a:t>
            </a:r>
            <a:endParaRPr dirty="0" sz="2187" lang="en-US"/>
          </a:p>
        </p:txBody>
      </p:sp>
      <p:sp>
        <p:nvSpPr>
          <p:cNvPr id="1048641" name="Shape 4"/>
          <p:cNvSpPr/>
          <p:nvPr/>
        </p:nvSpPr>
        <p:spPr>
          <a:xfrm>
            <a:off x="2348389" y="3869293"/>
            <a:ext cx="222171" cy="222171"/>
          </a:xfrm>
          <a:prstGeom prst="roundRect">
            <a:avLst>
              <a:gd name="adj" fmla="val 45006"/>
            </a:avLst>
          </a:prstGeom>
          <a:noFill/>
          <a:ln w="22860">
            <a:solidFill>
              <a:srgbClr val="F20374"/>
            </a:solidFill>
            <a:prstDash val="solid"/>
          </a:ln>
        </p:spPr>
      </p:sp>
      <p:sp>
        <p:nvSpPr>
          <p:cNvPr id="1048642" name="Text 5"/>
          <p:cNvSpPr/>
          <p:nvPr/>
        </p:nvSpPr>
        <p:spPr>
          <a:xfrm>
            <a:off x="2703790" y="3802737"/>
            <a:ext cx="9578102" cy="333256"/>
          </a:xfrm>
          <a:prstGeom prst="rect"/>
          <a:noFill/>
        </p:spPr>
        <p:txBody>
          <a:bodyPr anchor="t" rtlCol="0" wrap="non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To empower medical students by training peer counselors among them.</a:t>
            </a:r>
            <a:endParaRPr dirty="0" sz="1750" lang="en-US"/>
          </a:p>
        </p:txBody>
      </p:sp>
      <p:sp>
        <p:nvSpPr>
          <p:cNvPr id="1048643" name="Shape 6"/>
          <p:cNvSpPr/>
          <p:nvPr/>
        </p:nvSpPr>
        <p:spPr>
          <a:xfrm>
            <a:off x="2348389" y="4280297"/>
            <a:ext cx="222171" cy="222171"/>
          </a:xfrm>
          <a:prstGeom prst="roundRect">
            <a:avLst>
              <a:gd name="adj" fmla="val 45006"/>
            </a:avLst>
          </a:prstGeom>
          <a:noFill/>
          <a:ln w="22860">
            <a:solidFill>
              <a:srgbClr val="F20374"/>
            </a:solidFill>
            <a:prstDash val="solid"/>
          </a:ln>
        </p:spPr>
      </p:sp>
      <p:sp>
        <p:nvSpPr>
          <p:cNvPr id="1048644" name="Text 7"/>
          <p:cNvSpPr/>
          <p:nvPr/>
        </p:nvSpPr>
        <p:spPr>
          <a:xfrm>
            <a:off x="2703790" y="4213741"/>
            <a:ext cx="9578102" cy="333256"/>
          </a:xfrm>
          <a:prstGeom prst="rect"/>
          <a:noFill/>
        </p:spPr>
        <p:txBody>
          <a:bodyPr anchor="t" rtlCol="0" wrap="non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To provide a safe and supportive space for medical students to discuss mental health  concerns.</a:t>
            </a:r>
            <a:endParaRPr dirty="0" sz="1750" lang="en-US"/>
          </a:p>
        </p:txBody>
      </p:sp>
      <p:sp>
        <p:nvSpPr>
          <p:cNvPr id="1048645" name="Shape 8"/>
          <p:cNvSpPr/>
          <p:nvPr/>
        </p:nvSpPr>
        <p:spPr>
          <a:xfrm>
            <a:off x="2348389" y="4691301"/>
            <a:ext cx="222171" cy="222171"/>
          </a:xfrm>
          <a:prstGeom prst="roundRect">
            <a:avLst>
              <a:gd name="adj" fmla="val 45006"/>
            </a:avLst>
          </a:prstGeom>
          <a:noFill/>
          <a:ln w="22860">
            <a:solidFill>
              <a:srgbClr val="F20374"/>
            </a:solidFill>
            <a:prstDash val="solid"/>
          </a:ln>
        </p:spPr>
      </p:sp>
      <p:sp>
        <p:nvSpPr>
          <p:cNvPr id="1048646" name="Text 9"/>
          <p:cNvSpPr/>
          <p:nvPr/>
        </p:nvSpPr>
        <p:spPr>
          <a:xfrm>
            <a:off x="2703790" y="4624745"/>
            <a:ext cx="9578102" cy="333256"/>
          </a:xfrm>
          <a:prstGeom prst="rect"/>
          <a:noFill/>
        </p:spPr>
        <p:txBody>
          <a:bodyPr anchor="t" rtlCol="0" wrap="non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To raise awareness about mental health issues among students.</a:t>
            </a:r>
            <a:endParaRPr dirty="0" sz="1750" lang="en-US"/>
          </a:p>
        </p:txBody>
      </p:sp>
      <p:sp>
        <p:nvSpPr>
          <p:cNvPr id="1048647" name="Shape 10"/>
          <p:cNvSpPr/>
          <p:nvPr/>
        </p:nvSpPr>
        <p:spPr>
          <a:xfrm>
            <a:off x="2348389" y="5102304"/>
            <a:ext cx="222171" cy="222171"/>
          </a:xfrm>
          <a:prstGeom prst="roundRect">
            <a:avLst>
              <a:gd name="adj" fmla="val 45006"/>
            </a:avLst>
          </a:prstGeom>
          <a:noFill/>
          <a:ln w="22860">
            <a:solidFill>
              <a:srgbClr val="F20374"/>
            </a:solidFill>
            <a:prstDash val="solid"/>
          </a:ln>
        </p:spPr>
      </p:sp>
      <p:sp>
        <p:nvSpPr>
          <p:cNvPr id="1048648" name="Text 11"/>
          <p:cNvSpPr/>
          <p:nvPr/>
        </p:nvSpPr>
        <p:spPr>
          <a:xfrm>
            <a:off x="2703790" y="5035748"/>
            <a:ext cx="9578102" cy="333256"/>
          </a:xfrm>
          <a:prstGeom prst="rect"/>
          <a:noFill/>
        </p:spPr>
        <p:txBody>
          <a:bodyPr anchor="t" rtlCol="0" wrap="non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To connect students with trained mental health personnel on and off campus.</a:t>
            </a:r>
            <a:endParaRPr dirty="0" sz="1750" lang="en-US"/>
          </a:p>
        </p:txBody>
      </p:sp>
      <p:sp>
        <p:nvSpPr>
          <p:cNvPr id="1048649" name="Shape 12"/>
          <p:cNvSpPr/>
          <p:nvPr/>
        </p:nvSpPr>
        <p:spPr>
          <a:xfrm>
            <a:off x="2348389" y="5513308"/>
            <a:ext cx="222171" cy="222171"/>
          </a:xfrm>
          <a:prstGeom prst="roundRect">
            <a:avLst>
              <a:gd name="adj" fmla="val 45006"/>
            </a:avLst>
          </a:prstGeom>
          <a:noFill/>
          <a:ln w="22860">
            <a:solidFill>
              <a:srgbClr val="F20374"/>
            </a:solidFill>
            <a:prstDash val="solid"/>
          </a:ln>
        </p:spPr>
      </p:sp>
      <p:sp>
        <p:nvSpPr>
          <p:cNvPr id="1048650" name="Text 13"/>
          <p:cNvSpPr/>
          <p:nvPr/>
        </p:nvSpPr>
        <p:spPr>
          <a:xfrm>
            <a:off x="2703790" y="5446752"/>
            <a:ext cx="9578102" cy="333256"/>
          </a:xfrm>
          <a:prstGeom prst="rect"/>
          <a:noFill/>
        </p:spPr>
        <p:txBody>
          <a:bodyPr anchor="t" rtlCol="0" wrap="non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To promote healthy coping mechanisms and self-care strategies.</a:t>
            </a:r>
            <a:endParaRPr dirty="0" sz="1750" lang="en-US"/>
          </a:p>
        </p:txBody>
      </p:sp>
      <p:sp>
        <p:nvSpPr>
          <p:cNvPr id="1048651" name="Shape 14"/>
          <p:cNvSpPr/>
          <p:nvPr/>
        </p:nvSpPr>
        <p:spPr>
          <a:xfrm>
            <a:off x="2348389" y="5924312"/>
            <a:ext cx="222171" cy="222171"/>
          </a:xfrm>
          <a:prstGeom prst="roundRect">
            <a:avLst>
              <a:gd name="adj" fmla="val 45006"/>
            </a:avLst>
          </a:prstGeom>
          <a:noFill/>
          <a:ln w="22860">
            <a:solidFill>
              <a:srgbClr val="F20374"/>
            </a:solidFill>
            <a:prstDash val="solid"/>
          </a:ln>
        </p:spPr>
      </p:sp>
      <p:sp>
        <p:nvSpPr>
          <p:cNvPr id="1048652" name="Text 15"/>
          <p:cNvSpPr/>
          <p:nvPr/>
        </p:nvSpPr>
        <p:spPr>
          <a:xfrm>
            <a:off x="2703790" y="5857756"/>
            <a:ext cx="9578102" cy="333256"/>
          </a:xfrm>
          <a:prstGeom prst="rect"/>
          <a:noFill/>
        </p:spPr>
        <p:txBody>
          <a:bodyPr anchor="t" rtlCol="0" wrap="non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To advocate for policies and practices that support student mental health.</a:t>
            </a:r>
            <a:endParaRPr dirty="0" sz="1750" lang="en-US"/>
          </a:p>
        </p:txBody>
      </p:sp>
      <p:pic>
        <p:nvPicPr>
          <p:cNvPr id="2097168" name="Image 0" descr="preencoded.png">
            <a:hlinkClick r:id="rId1" tooltip=""/>
          </p:cNvPr>
          <p:cNvPicPr>
            <a:picLocks noChangeAspect="1"/>
          </p:cNvPicPr>
          <p:nvPr/>
        </p:nvPicPr>
        <p:blipFill>
          <a:blip xmlns:r="http://schemas.openxmlformats.org/officeDocument/2006/relationships" r:embed="rId2"/>
          <a:stretch>
            <a:fillRect/>
          </a:stretch>
        </p:blipFill>
        <p:spPr>
          <a:xfrm>
            <a:off x="12242153" y="7589520"/>
            <a:ext cx="2296807" cy="548640"/>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34" name=""/>
        <p:cNvGrpSpPr/>
        <p:nvPr/>
      </p:nvGrpSpPr>
      <p:grpSpPr>
        <a:xfrm>
          <a:off x="0" y="0"/>
          <a:ext cx="0" cy="0"/>
          <a:chOff x="0" y="0"/>
          <a:chExt cx="0" cy="0"/>
        </a:xfrm>
      </p:grpSpPr>
      <p:sp>
        <p:nvSpPr>
          <p:cNvPr id="1048656" name="Shape 0"/>
          <p:cNvSpPr/>
          <p:nvPr/>
        </p:nvSpPr>
        <p:spPr>
          <a:xfrm>
            <a:off x="0" y="0"/>
            <a:ext cx="14630400" cy="8229600"/>
          </a:xfrm>
          <a:prstGeom prst="rect"/>
          <a:solidFill>
            <a:srgbClr val="EADEDA"/>
          </a:solidFill>
        </p:spPr>
      </p:sp>
      <p:sp>
        <p:nvSpPr>
          <p:cNvPr id="1048657" name="Shape 1"/>
          <p:cNvSpPr/>
          <p:nvPr/>
        </p:nvSpPr>
        <p:spPr>
          <a:xfrm>
            <a:off x="0" y="0"/>
            <a:ext cx="14630400" cy="8229600"/>
          </a:xfrm>
          <a:prstGeom prst="rect"/>
          <a:solidFill>
            <a:srgbClr val="F20374"/>
          </a:solidFill>
        </p:spPr>
      </p:sp>
      <p:sp>
        <p:nvSpPr>
          <p:cNvPr id="1048658" name="Text 2"/>
          <p:cNvSpPr/>
          <p:nvPr/>
        </p:nvSpPr>
        <p:spPr>
          <a:xfrm>
            <a:off x="2348389" y="1306235"/>
            <a:ext cx="6267093" cy="653415"/>
          </a:xfrm>
          <a:prstGeom prst="rect"/>
          <a:noFill/>
        </p:spPr>
        <p:txBody>
          <a:bodyPr anchor="t" rtlCol="0" wrap="none"/>
          <a:p>
            <a:pPr indent="0" marL="0">
              <a:lnSpc>
                <a:spcPts val="5146"/>
              </a:lnSpc>
              <a:buNone/>
            </a:pPr>
            <a:r>
              <a:rPr b="1" dirty="0" sz="4117" kern="0" lang="en-US" spc="-124">
                <a:solidFill>
                  <a:srgbClr val="000000"/>
                </a:solidFill>
                <a:latin typeface="Overpass" pitchFamily="34" charset="0"/>
                <a:ea typeface="Overpass" pitchFamily="34" charset="-122"/>
                <a:cs typeface="Overpass" pitchFamily="34" charset="-120"/>
              </a:rPr>
              <a:t>Our Programs and Services</a:t>
            </a:r>
            <a:endParaRPr dirty="0" sz="4117" lang="en-US"/>
          </a:p>
        </p:txBody>
      </p:sp>
      <p:sp>
        <p:nvSpPr>
          <p:cNvPr id="1048659" name="Text 3"/>
          <p:cNvSpPr/>
          <p:nvPr/>
        </p:nvSpPr>
        <p:spPr>
          <a:xfrm>
            <a:off x="2348389" y="2515076"/>
            <a:ext cx="2076807" cy="653653"/>
          </a:xfrm>
          <a:prstGeom prst="rect"/>
          <a:noFill/>
        </p:spPr>
        <p:txBody>
          <a:bodyPr anchor="t" rtlCol="0" wrap="square"/>
          <a:p>
            <a:pPr indent="0" marL="0">
              <a:lnSpc>
                <a:spcPts val="2573"/>
              </a:lnSpc>
              <a:buNone/>
            </a:pPr>
            <a:r>
              <a:rPr b="1" dirty="0" sz="2058" kern="0" lang="en-US" spc="-62">
                <a:solidFill>
                  <a:srgbClr val="000000"/>
                </a:solidFill>
                <a:latin typeface="Overpass" pitchFamily="34" charset="0"/>
                <a:ea typeface="Overpass" pitchFamily="34" charset="-122"/>
                <a:cs typeface="Overpass" pitchFamily="34" charset="-120"/>
              </a:rPr>
              <a:t>One-On-One Peer Counselling</a:t>
            </a:r>
            <a:endParaRPr dirty="0" sz="2058" lang="en-US"/>
          </a:p>
        </p:txBody>
      </p:sp>
      <p:sp>
        <p:nvSpPr>
          <p:cNvPr id="1048660" name="Text 4"/>
          <p:cNvSpPr/>
          <p:nvPr/>
        </p:nvSpPr>
        <p:spPr>
          <a:xfrm>
            <a:off x="2348389" y="3390900"/>
            <a:ext cx="2076807" cy="1999536"/>
          </a:xfrm>
          <a:prstGeom prst="rect"/>
          <a:noFill/>
        </p:spPr>
        <p:txBody>
          <a:bodyPr anchor="t" rtlCol="0" wrap="square"/>
          <a:p>
            <a:pPr indent="0" marL="0">
              <a:lnSpc>
                <a:spcPts val="2624"/>
              </a:lnSpc>
              <a:buNone/>
            </a:pPr>
            <a:r>
              <a:rPr dirty="0" sz="1750" lang="en-US">
                <a:solidFill>
                  <a:srgbClr val="000000"/>
                </a:solidFill>
                <a:latin typeface="Overpass" pitchFamily="34" charset="0"/>
                <a:ea typeface="Overpass" pitchFamily="34" charset="-122"/>
                <a:cs typeface="Overpass" pitchFamily="34" charset="-120"/>
              </a:rPr>
              <a:t>Organized counseling sessions with trained and qualified peer counselors on and off campus.</a:t>
            </a:r>
            <a:endParaRPr dirty="0" sz="1750" lang="en-US"/>
          </a:p>
        </p:txBody>
      </p:sp>
      <p:sp>
        <p:nvSpPr>
          <p:cNvPr id="1048661" name="Text 5"/>
          <p:cNvSpPr/>
          <p:nvPr/>
        </p:nvSpPr>
        <p:spPr>
          <a:xfrm>
            <a:off x="4974788" y="2515076"/>
            <a:ext cx="2076807" cy="1307306"/>
          </a:xfrm>
          <a:prstGeom prst="rect"/>
          <a:noFill/>
        </p:spPr>
        <p:txBody>
          <a:bodyPr anchor="t" rtlCol="0" wrap="square"/>
          <a:p>
            <a:pPr indent="0" marL="0">
              <a:lnSpc>
                <a:spcPts val="2573"/>
              </a:lnSpc>
              <a:buNone/>
            </a:pPr>
            <a:r>
              <a:rPr b="1" dirty="0" sz="2058" kern="0" lang="en-US" spc="-62">
                <a:solidFill>
                  <a:srgbClr val="000000"/>
                </a:solidFill>
                <a:latin typeface="Overpass" pitchFamily="34" charset="0"/>
                <a:ea typeface="Overpass" pitchFamily="34" charset="-122"/>
                <a:cs typeface="Overpass" pitchFamily="34" charset="-120"/>
              </a:rPr>
              <a:t>Access to mental health professionals and resources </a:t>
            </a:r>
            <a:endParaRPr dirty="0" sz="2058" lang="en-US"/>
          </a:p>
        </p:txBody>
      </p:sp>
      <p:sp>
        <p:nvSpPr>
          <p:cNvPr id="1048662" name="Text 6"/>
          <p:cNvSpPr/>
          <p:nvPr/>
        </p:nvSpPr>
        <p:spPr>
          <a:xfrm>
            <a:off x="4974788" y="4044553"/>
            <a:ext cx="2076807" cy="2666048"/>
          </a:xfrm>
          <a:prstGeom prst="rect"/>
          <a:noFill/>
        </p:spPr>
        <p:txBody>
          <a:bodyPr anchor="t" rtlCol="0" wrap="square"/>
          <a:p>
            <a:pPr indent="0" marL="0">
              <a:lnSpc>
                <a:spcPts val="2624"/>
              </a:lnSpc>
              <a:buNone/>
            </a:pPr>
            <a:r>
              <a:rPr dirty="0" sz="1750" lang="en-US">
                <a:solidFill>
                  <a:srgbClr val="000000"/>
                </a:solidFill>
                <a:latin typeface="Overpass" pitchFamily="34" charset="0"/>
                <a:ea typeface="Overpass" pitchFamily="34" charset="-122"/>
                <a:cs typeface="Overpass" pitchFamily="34" charset="-120"/>
              </a:rPr>
              <a:t>Members have access to pro-bono  services from psychologists, therapists, and psychiatrists. Also access to mental health resources. </a:t>
            </a:r>
            <a:endParaRPr dirty="0" sz="1750" lang="en-US"/>
          </a:p>
        </p:txBody>
      </p:sp>
      <p:sp>
        <p:nvSpPr>
          <p:cNvPr id="1048663" name="Text 7"/>
          <p:cNvSpPr/>
          <p:nvPr/>
        </p:nvSpPr>
        <p:spPr>
          <a:xfrm>
            <a:off x="7601188" y="2515076"/>
            <a:ext cx="2076807" cy="653653"/>
          </a:xfrm>
          <a:prstGeom prst="rect"/>
          <a:noFill/>
        </p:spPr>
        <p:txBody>
          <a:bodyPr anchor="t" rtlCol="0" wrap="square"/>
          <a:p>
            <a:pPr indent="0" marL="0">
              <a:lnSpc>
                <a:spcPts val="2573"/>
              </a:lnSpc>
              <a:buNone/>
            </a:pPr>
            <a:r>
              <a:rPr b="1" dirty="0" sz="2058" kern="0" lang="en-US" spc="-62">
                <a:solidFill>
                  <a:srgbClr val="000000"/>
                </a:solidFill>
                <a:latin typeface="Overpass" pitchFamily="34" charset="0"/>
                <a:ea typeface="Overpass" pitchFamily="34" charset="-122"/>
                <a:cs typeface="Overpass" pitchFamily="34" charset="-120"/>
              </a:rPr>
              <a:t>Support Groups and Workshops</a:t>
            </a:r>
            <a:endParaRPr dirty="0" sz="2058" lang="en-US"/>
          </a:p>
        </p:txBody>
      </p:sp>
      <p:sp>
        <p:nvSpPr>
          <p:cNvPr id="1048664" name="Text 8"/>
          <p:cNvSpPr/>
          <p:nvPr/>
        </p:nvSpPr>
        <p:spPr>
          <a:xfrm>
            <a:off x="7601188" y="3390900"/>
            <a:ext cx="2076807" cy="3332559"/>
          </a:xfrm>
          <a:prstGeom prst="rect"/>
          <a:noFill/>
        </p:spPr>
        <p:txBody>
          <a:bodyPr anchor="t" rtlCol="0" wrap="square"/>
          <a:p>
            <a:pPr indent="0" marL="0">
              <a:lnSpc>
                <a:spcPts val="2624"/>
              </a:lnSpc>
              <a:buNone/>
            </a:pPr>
            <a:r>
              <a:rPr dirty="0" sz="1750" lang="en-US">
                <a:solidFill>
                  <a:srgbClr val="0C0C0C"/>
                </a:solidFill>
                <a:latin typeface="Overpass" pitchFamily="34" charset="0"/>
                <a:ea typeface="Overpass" pitchFamily="34" charset="-122"/>
                <a:cs typeface="Overpass" pitchFamily="34" charset="-120"/>
              </a:rPr>
              <a:t>Support groups for individuals facing similar challenges, as well as workshops on topics like anxiety management, coping skills, and building healthy relationships.</a:t>
            </a:r>
            <a:endParaRPr dirty="0" sz="1750" lang="en-US"/>
          </a:p>
        </p:txBody>
      </p:sp>
      <p:sp>
        <p:nvSpPr>
          <p:cNvPr id="1048665" name="Text 9"/>
          <p:cNvSpPr/>
          <p:nvPr/>
        </p:nvSpPr>
        <p:spPr>
          <a:xfrm>
            <a:off x="10227588" y="2515076"/>
            <a:ext cx="2076807" cy="326827"/>
          </a:xfrm>
          <a:prstGeom prst="rect"/>
          <a:noFill/>
        </p:spPr>
        <p:txBody>
          <a:bodyPr anchor="t" rtlCol="0" wrap="none"/>
          <a:p>
            <a:pPr indent="0" marL="0">
              <a:lnSpc>
                <a:spcPts val="2573"/>
              </a:lnSpc>
              <a:buNone/>
            </a:pPr>
            <a:r>
              <a:rPr b="1" dirty="0" sz="2058" kern="0" lang="en-US" spc="-62">
                <a:solidFill>
                  <a:srgbClr val="0C0C0C"/>
                </a:solidFill>
                <a:latin typeface="Overpass" pitchFamily="34" charset="0"/>
                <a:ea typeface="Overpass" pitchFamily="34" charset="-122"/>
                <a:cs typeface="Overpass" pitchFamily="34" charset="-120"/>
              </a:rPr>
              <a:t>Social Events</a:t>
            </a:r>
            <a:endParaRPr dirty="0" sz="2058" lang="en-US"/>
          </a:p>
        </p:txBody>
      </p:sp>
      <p:sp>
        <p:nvSpPr>
          <p:cNvPr id="1048666" name="Text 10"/>
          <p:cNvSpPr/>
          <p:nvPr/>
        </p:nvSpPr>
        <p:spPr>
          <a:xfrm>
            <a:off x="10227588" y="3064073"/>
            <a:ext cx="2076807" cy="333256"/>
          </a:xfrm>
          <a:prstGeom prst="rect"/>
          <a:noFill/>
        </p:spPr>
        <p:txBody>
          <a:bodyPr anchor="t" rtlCol="0" wrap="none"/>
          <a:p>
            <a:pPr indent="0" marL="0">
              <a:lnSpc>
                <a:spcPts val="2624"/>
              </a:lnSpc>
              <a:buNone/>
            </a:pPr>
            <a:endParaRPr dirty="0" sz="1750" lang="en-US"/>
          </a:p>
        </p:txBody>
      </p:sp>
      <p:sp>
        <p:nvSpPr>
          <p:cNvPr id="1048667" name="Text 11"/>
          <p:cNvSpPr/>
          <p:nvPr/>
        </p:nvSpPr>
        <p:spPr>
          <a:xfrm>
            <a:off x="10227588" y="3597235"/>
            <a:ext cx="2076807" cy="2332792"/>
          </a:xfrm>
          <a:prstGeom prst="rect"/>
          <a:noFill/>
        </p:spPr>
        <p:txBody>
          <a:bodyPr anchor="t" rtlCol="0" wrap="square"/>
          <a:p>
            <a:pPr indent="0" marL="0">
              <a:lnSpc>
                <a:spcPts val="2624"/>
              </a:lnSpc>
              <a:buNone/>
            </a:pPr>
            <a:r>
              <a:rPr dirty="0" sz="1750" lang="en-US">
                <a:solidFill>
                  <a:srgbClr val="0C0C0C"/>
                </a:solidFill>
                <a:latin typeface="Overpass" pitchFamily="34" charset="0"/>
                <a:ea typeface="Overpass" pitchFamily="34" charset="-122"/>
                <a:cs typeface="Overpass" pitchFamily="34" charset="-120"/>
              </a:rPr>
              <a:t>Organize team building to foster a sense of community and belonging among students such as walks, game nights, dinners.</a:t>
            </a:r>
            <a:endParaRPr dirty="0" sz="1750" lang="en-US"/>
          </a:p>
        </p:txBody>
      </p:sp>
      <p:pic>
        <p:nvPicPr>
          <p:cNvPr id="2097169" name="Image 0" descr="preencoded.png">
            <a:hlinkClick r:id="rId1" tooltip=""/>
          </p:cNvPr>
          <p:cNvPicPr>
            <a:picLocks noChangeAspect="1"/>
          </p:cNvPicPr>
          <p:nvPr/>
        </p:nvPicPr>
        <p:blipFill>
          <a:blip xmlns:r="http://schemas.openxmlformats.org/officeDocument/2006/relationships" r:embed="rId2"/>
          <a:stretch>
            <a:fillRect/>
          </a:stretch>
        </p:blipFill>
        <p:spPr>
          <a:xfrm>
            <a:off x="12242153" y="7589520"/>
            <a:ext cx="2296807" cy="548640"/>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37" name=""/>
        <p:cNvGrpSpPr/>
        <p:nvPr/>
      </p:nvGrpSpPr>
      <p:grpSpPr>
        <a:xfrm>
          <a:off x="0" y="0"/>
          <a:ext cx="0" cy="0"/>
          <a:chOff x="0" y="0"/>
          <a:chExt cx="0" cy="0"/>
        </a:xfrm>
      </p:grpSpPr>
      <p:sp>
        <p:nvSpPr>
          <p:cNvPr id="1048671" name="Shape 0"/>
          <p:cNvSpPr/>
          <p:nvPr/>
        </p:nvSpPr>
        <p:spPr>
          <a:xfrm>
            <a:off x="0" y="0"/>
            <a:ext cx="14630400" cy="8229600"/>
          </a:xfrm>
          <a:prstGeom prst="rect"/>
          <a:solidFill>
            <a:srgbClr val="EADEDA"/>
          </a:solidFill>
        </p:spPr>
      </p:sp>
      <p:sp>
        <p:nvSpPr>
          <p:cNvPr id="1048672" name="Shape 1"/>
          <p:cNvSpPr/>
          <p:nvPr/>
        </p:nvSpPr>
        <p:spPr>
          <a:xfrm>
            <a:off x="0" y="0"/>
            <a:ext cx="14630400" cy="8229600"/>
          </a:xfrm>
          <a:prstGeom prst="rect"/>
          <a:solidFill>
            <a:srgbClr val="0C0C0C"/>
          </a:solidFill>
        </p:spPr>
      </p:sp>
      <p:sp>
        <p:nvSpPr>
          <p:cNvPr id="1048673" name="Text 2"/>
          <p:cNvSpPr/>
          <p:nvPr/>
        </p:nvSpPr>
        <p:spPr>
          <a:xfrm>
            <a:off x="2348389" y="955238"/>
            <a:ext cx="7271504" cy="653415"/>
          </a:xfrm>
          <a:prstGeom prst="rect"/>
          <a:noFill/>
        </p:spPr>
        <p:txBody>
          <a:bodyPr anchor="t" rtlCol="0" wrap="non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Our Impact and S</a:t>
            </a:r>
            <a:r>
              <a:rPr b="1" dirty="0" sz="4117" kern="0" lang="en-US" spc="-124">
                <a:solidFill>
                  <a:srgbClr val="FFFFFF"/>
                </a:solidFill>
                <a:latin typeface="Overpass" pitchFamily="34" charset="0"/>
                <a:ea typeface="Overpass" pitchFamily="34" charset="-122"/>
                <a:cs typeface="Overpass" pitchFamily="34" charset="-120"/>
              </a:rPr>
              <a:t>uccess Stories</a:t>
            </a:r>
            <a:endParaRPr dirty="0" sz="4117" lang="en-US"/>
          </a:p>
        </p:txBody>
      </p:sp>
      <p:pic>
        <p:nvPicPr>
          <p:cNvPr id="2097170" name="Image 0" descr="preencoded.png"/>
          <p:cNvPicPr>
            <a:picLocks noChangeAspect="1"/>
          </p:cNvPicPr>
          <p:nvPr/>
        </p:nvPicPr>
        <p:blipFill>
          <a:blip xmlns:r="http://schemas.openxmlformats.org/officeDocument/2006/relationships" r:embed="rId1"/>
          <a:stretch>
            <a:fillRect/>
          </a:stretch>
        </p:blipFill>
        <p:spPr>
          <a:xfrm>
            <a:off x="2348389" y="1941909"/>
            <a:ext cx="1110972" cy="1777484"/>
          </a:xfrm>
          <a:prstGeom prst="rect"/>
        </p:spPr>
      </p:pic>
      <p:sp>
        <p:nvSpPr>
          <p:cNvPr id="1048674" name="Text 3"/>
          <p:cNvSpPr/>
          <p:nvPr/>
        </p:nvSpPr>
        <p:spPr>
          <a:xfrm>
            <a:off x="3792617" y="2164080"/>
            <a:ext cx="2614017"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Increased Awareness</a:t>
            </a:r>
            <a:endParaRPr dirty="0" sz="2058" lang="en-US"/>
          </a:p>
        </p:txBody>
      </p:sp>
      <p:sp>
        <p:nvSpPr>
          <p:cNvPr id="1048675" name="Text 4"/>
          <p:cNvSpPr/>
          <p:nvPr/>
        </p:nvSpPr>
        <p:spPr>
          <a:xfrm>
            <a:off x="3792617" y="2624137"/>
            <a:ext cx="8489275" cy="666512"/>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We've fostered a sense of community around mental health, encouraging open conversations and breaking down stigma.</a:t>
            </a:r>
            <a:endParaRPr dirty="0" sz="1750" lang="en-US"/>
          </a:p>
        </p:txBody>
      </p:sp>
      <p:pic>
        <p:nvPicPr>
          <p:cNvPr id="2097171" name="Image 1" descr="preencoded.png"/>
          <p:cNvPicPr>
            <a:picLocks noChangeAspect="1"/>
          </p:cNvPicPr>
          <p:nvPr/>
        </p:nvPicPr>
        <p:blipFill>
          <a:blip xmlns:r="http://schemas.openxmlformats.org/officeDocument/2006/relationships" r:embed="rId2"/>
          <a:stretch>
            <a:fillRect/>
          </a:stretch>
        </p:blipFill>
        <p:spPr>
          <a:xfrm>
            <a:off x="2348389" y="3719393"/>
            <a:ext cx="1110972" cy="1777484"/>
          </a:xfrm>
          <a:prstGeom prst="rect"/>
        </p:spPr>
      </p:pic>
      <p:sp>
        <p:nvSpPr>
          <p:cNvPr id="1048676" name="Text 5"/>
          <p:cNvSpPr/>
          <p:nvPr/>
        </p:nvSpPr>
        <p:spPr>
          <a:xfrm>
            <a:off x="3792617" y="3941564"/>
            <a:ext cx="2614017"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Improved Well-being</a:t>
            </a:r>
            <a:endParaRPr dirty="0" sz="2058" lang="en-US"/>
          </a:p>
        </p:txBody>
      </p:sp>
      <p:sp>
        <p:nvSpPr>
          <p:cNvPr id="1048677" name="Text 6"/>
          <p:cNvSpPr/>
          <p:nvPr/>
        </p:nvSpPr>
        <p:spPr>
          <a:xfrm>
            <a:off x="3792617" y="4401622"/>
            <a:ext cx="8489275" cy="666512"/>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Our programs and services have helped individuals develop coping mechanisms, reduce stress, and improve their overall mental well-being.</a:t>
            </a:r>
            <a:endParaRPr dirty="0" sz="1750" lang="en-US"/>
          </a:p>
        </p:txBody>
      </p:sp>
      <p:pic>
        <p:nvPicPr>
          <p:cNvPr id="2097172" name="Image 2" descr="preencoded.png"/>
          <p:cNvPicPr>
            <a:picLocks noChangeAspect="1"/>
          </p:cNvPicPr>
          <p:nvPr/>
        </p:nvPicPr>
        <p:blipFill>
          <a:blip xmlns:r="http://schemas.openxmlformats.org/officeDocument/2006/relationships" r:embed="rId3"/>
          <a:stretch>
            <a:fillRect/>
          </a:stretch>
        </p:blipFill>
        <p:spPr>
          <a:xfrm>
            <a:off x="2348389" y="5496878"/>
            <a:ext cx="1110972" cy="1777484"/>
          </a:xfrm>
          <a:prstGeom prst="rect"/>
        </p:spPr>
      </p:pic>
      <p:sp>
        <p:nvSpPr>
          <p:cNvPr id="1048678" name="Text 7"/>
          <p:cNvSpPr/>
          <p:nvPr/>
        </p:nvSpPr>
        <p:spPr>
          <a:xfrm>
            <a:off x="3792617" y="5719048"/>
            <a:ext cx="2668429"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Empowered Individuals</a:t>
            </a:r>
            <a:endParaRPr dirty="0" sz="2058" lang="en-US"/>
          </a:p>
        </p:txBody>
      </p:sp>
      <p:sp>
        <p:nvSpPr>
          <p:cNvPr id="1048679" name="Text 8"/>
          <p:cNvSpPr/>
          <p:nvPr/>
        </p:nvSpPr>
        <p:spPr>
          <a:xfrm>
            <a:off x="3792617" y="6179106"/>
            <a:ext cx="8489275" cy="666512"/>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Participants have gained valuable tools and resources to manage their mental health, build resilience, and thrive.</a:t>
            </a:r>
            <a:endParaRPr dirty="0" sz="1750" lang="en-US"/>
          </a:p>
        </p:txBody>
      </p:sp>
      <p:pic>
        <p:nvPicPr>
          <p:cNvPr id="2097173" name="Image 3" descr="preencoded.png">
            <a:hlinkClick r:id="rId4" tooltip=""/>
          </p:cNvPr>
          <p:cNvPicPr>
            <a:picLocks noChangeAspect="1"/>
          </p:cNvPicPr>
          <p:nvPr/>
        </p:nvPicPr>
        <p:blipFill>
          <a:blip xmlns:r="http://schemas.openxmlformats.org/officeDocument/2006/relationships" r:embed="rId5"/>
          <a:stretch>
            <a:fillRect/>
          </a:stretch>
        </p:blipFill>
        <p:spPr>
          <a:xfrm>
            <a:off x="12242153" y="7589520"/>
            <a:ext cx="2296807" cy="548640"/>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40" name=""/>
        <p:cNvGrpSpPr/>
        <p:nvPr/>
      </p:nvGrpSpPr>
      <p:grpSpPr>
        <a:xfrm>
          <a:off x="0" y="0"/>
          <a:ext cx="0" cy="0"/>
          <a:chOff x="0" y="0"/>
          <a:chExt cx="0" cy="0"/>
        </a:xfrm>
      </p:grpSpPr>
      <p:sp>
        <p:nvSpPr>
          <p:cNvPr id="1048683" name="Shape 0"/>
          <p:cNvSpPr/>
          <p:nvPr/>
        </p:nvSpPr>
        <p:spPr>
          <a:xfrm>
            <a:off x="0" y="0"/>
            <a:ext cx="14630400" cy="8229600"/>
          </a:xfrm>
          <a:prstGeom prst="rect"/>
          <a:solidFill>
            <a:srgbClr val="EADEDA"/>
          </a:solidFill>
        </p:spPr>
      </p:sp>
      <p:sp>
        <p:nvSpPr>
          <p:cNvPr id="1048684" name="Shape 1"/>
          <p:cNvSpPr/>
          <p:nvPr/>
        </p:nvSpPr>
        <p:spPr>
          <a:xfrm>
            <a:off x="0" y="0"/>
            <a:ext cx="14630400" cy="8229600"/>
          </a:xfrm>
          <a:prstGeom prst="rect"/>
          <a:solidFill>
            <a:srgbClr val="0C0C0C"/>
          </a:solidFill>
        </p:spPr>
      </p:sp>
      <p:sp>
        <p:nvSpPr>
          <p:cNvPr id="1048685" name="Text 2"/>
          <p:cNvSpPr/>
          <p:nvPr/>
        </p:nvSpPr>
        <p:spPr>
          <a:xfrm>
            <a:off x="2348389" y="939522"/>
            <a:ext cx="7462242" cy="653415"/>
          </a:xfrm>
          <a:prstGeom prst="rect"/>
          <a:noFill/>
        </p:spPr>
        <p:txBody>
          <a:bodyPr anchor="t" rtlCol="0" wrap="non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Our Business Model and Funding</a:t>
            </a:r>
            <a:endParaRPr dirty="0" sz="4117" lang="en-US"/>
          </a:p>
        </p:txBody>
      </p:sp>
      <p:sp>
        <p:nvSpPr>
          <p:cNvPr id="1048686" name="Shape 3"/>
          <p:cNvSpPr/>
          <p:nvPr/>
        </p:nvSpPr>
        <p:spPr>
          <a:xfrm>
            <a:off x="2348389" y="4830247"/>
            <a:ext cx="9933503" cy="44410"/>
          </a:xfrm>
          <a:prstGeom prst="roundRect">
            <a:avLst>
              <a:gd name="adj" fmla="val 225151"/>
            </a:avLst>
          </a:prstGeom>
          <a:solidFill>
            <a:srgbClr val="971B55"/>
          </a:solidFill>
        </p:spPr>
      </p:sp>
      <p:sp>
        <p:nvSpPr>
          <p:cNvPr id="1048687" name="Shape 4"/>
          <p:cNvSpPr/>
          <p:nvPr/>
        </p:nvSpPr>
        <p:spPr>
          <a:xfrm>
            <a:off x="4753987" y="4052709"/>
            <a:ext cx="44410" cy="777597"/>
          </a:xfrm>
          <a:prstGeom prst="roundRect">
            <a:avLst>
              <a:gd name="adj" fmla="val 225151"/>
            </a:avLst>
          </a:prstGeom>
          <a:solidFill>
            <a:srgbClr val="971B55"/>
          </a:solidFill>
        </p:spPr>
      </p:sp>
      <p:sp>
        <p:nvSpPr>
          <p:cNvPr id="1048688" name="Shape 5"/>
          <p:cNvSpPr/>
          <p:nvPr/>
        </p:nvSpPr>
        <p:spPr>
          <a:xfrm>
            <a:off x="4526280" y="4580275"/>
            <a:ext cx="499943" cy="499943"/>
          </a:xfrm>
          <a:prstGeom prst="roundRect">
            <a:avLst>
              <a:gd name="adj" fmla="val 20000"/>
            </a:avLst>
          </a:prstGeom>
          <a:solidFill>
            <a:srgbClr val="7E023C"/>
          </a:solidFill>
          <a:ln w="7620">
            <a:solidFill>
              <a:srgbClr val="971B55"/>
            </a:solidFill>
            <a:prstDash val="solid"/>
          </a:ln>
        </p:spPr>
      </p:sp>
      <p:sp>
        <p:nvSpPr>
          <p:cNvPr id="1048689" name="Text 6"/>
          <p:cNvSpPr/>
          <p:nvPr/>
        </p:nvSpPr>
        <p:spPr>
          <a:xfrm>
            <a:off x="4718209" y="4673382"/>
            <a:ext cx="116086" cy="313730"/>
          </a:xfrm>
          <a:prstGeom prst="rect"/>
          <a:noFill/>
        </p:spPr>
        <p:txBody>
          <a:bodyPr anchor="t" rtlCol="0" wrap="none"/>
          <a:p>
            <a:pPr algn="ctr" indent="0" marL="0">
              <a:lnSpc>
                <a:spcPts val="2470"/>
              </a:lnSpc>
              <a:buNone/>
            </a:pPr>
            <a:r>
              <a:rPr b="1" dirty="0" sz="2470" kern="0" lang="en-US" spc="-74">
                <a:solidFill>
                  <a:srgbClr val="E5E0DF"/>
                </a:solidFill>
                <a:latin typeface="Overpass" pitchFamily="34" charset="0"/>
                <a:ea typeface="Overpass" pitchFamily="34" charset="-122"/>
                <a:cs typeface="Overpass" pitchFamily="34" charset="-120"/>
              </a:rPr>
              <a:t>1</a:t>
            </a:r>
            <a:endParaRPr dirty="0" sz="2470" lang="en-US"/>
          </a:p>
        </p:txBody>
      </p:sp>
      <p:sp>
        <p:nvSpPr>
          <p:cNvPr id="1048690" name="Text 7"/>
          <p:cNvSpPr/>
          <p:nvPr/>
        </p:nvSpPr>
        <p:spPr>
          <a:xfrm>
            <a:off x="3469124" y="2370534"/>
            <a:ext cx="2614017" cy="326827"/>
          </a:xfrm>
          <a:prstGeom prst="rect"/>
          <a:noFill/>
        </p:spPr>
        <p:txBody>
          <a:bodyPr anchor="t" rtlCol="0" wrap="none"/>
          <a:p>
            <a:pPr algn="ctr"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Membership Fees</a:t>
            </a:r>
            <a:endParaRPr dirty="0" sz="2058" lang="en-US"/>
          </a:p>
        </p:txBody>
      </p:sp>
      <p:sp>
        <p:nvSpPr>
          <p:cNvPr id="1048691" name="Text 8"/>
          <p:cNvSpPr/>
          <p:nvPr/>
        </p:nvSpPr>
        <p:spPr>
          <a:xfrm>
            <a:off x="2570559" y="2830592"/>
            <a:ext cx="4411266" cy="999768"/>
          </a:xfrm>
          <a:prstGeom prst="rect"/>
          <a:noFill/>
        </p:spPr>
        <p:txBody>
          <a:bodyPr anchor="t" rtlCol="0" wrap="square"/>
          <a:p>
            <a:pPr algn="ctr" indent="0" marL="0">
              <a:lnSpc>
                <a:spcPts val="2624"/>
              </a:lnSpc>
              <a:buNone/>
            </a:pPr>
            <a:r>
              <a:rPr dirty="0" sz="1750" lang="en-US">
                <a:solidFill>
                  <a:srgbClr val="E5E0DF"/>
                </a:solidFill>
                <a:latin typeface="Overpass" pitchFamily="34" charset="0"/>
                <a:ea typeface="Overpass" pitchFamily="34" charset="-122"/>
                <a:cs typeface="Overpass" pitchFamily="34" charset="-120"/>
              </a:rPr>
              <a:t>A sliding scale membership fee structure allows individuals to access our programs based on their financial ability.</a:t>
            </a:r>
            <a:endParaRPr dirty="0" sz="1750" lang="en-US"/>
          </a:p>
        </p:txBody>
      </p:sp>
      <p:sp>
        <p:nvSpPr>
          <p:cNvPr id="1048692" name="Shape 9"/>
          <p:cNvSpPr/>
          <p:nvPr/>
        </p:nvSpPr>
        <p:spPr>
          <a:xfrm>
            <a:off x="7292876" y="4830187"/>
            <a:ext cx="44410" cy="777597"/>
          </a:xfrm>
          <a:prstGeom prst="roundRect">
            <a:avLst>
              <a:gd name="adj" fmla="val 225151"/>
            </a:avLst>
          </a:prstGeom>
          <a:solidFill>
            <a:srgbClr val="971B55"/>
          </a:solidFill>
        </p:spPr>
      </p:sp>
      <p:sp>
        <p:nvSpPr>
          <p:cNvPr id="1048693" name="Shape 10"/>
          <p:cNvSpPr/>
          <p:nvPr/>
        </p:nvSpPr>
        <p:spPr>
          <a:xfrm>
            <a:off x="7065169" y="4580275"/>
            <a:ext cx="499943" cy="499943"/>
          </a:xfrm>
          <a:prstGeom prst="roundRect">
            <a:avLst>
              <a:gd name="adj" fmla="val 20000"/>
            </a:avLst>
          </a:prstGeom>
          <a:solidFill>
            <a:srgbClr val="7E023C"/>
          </a:solidFill>
          <a:ln w="7620">
            <a:solidFill>
              <a:srgbClr val="971B55"/>
            </a:solidFill>
            <a:prstDash val="solid"/>
          </a:ln>
        </p:spPr>
      </p:sp>
      <p:sp>
        <p:nvSpPr>
          <p:cNvPr id="1048694" name="Text 11"/>
          <p:cNvSpPr/>
          <p:nvPr/>
        </p:nvSpPr>
        <p:spPr>
          <a:xfrm>
            <a:off x="7223879" y="4673382"/>
            <a:ext cx="182404" cy="313730"/>
          </a:xfrm>
          <a:prstGeom prst="rect"/>
          <a:noFill/>
        </p:spPr>
        <p:txBody>
          <a:bodyPr anchor="t" rtlCol="0" wrap="none"/>
          <a:p>
            <a:pPr algn="ctr" indent="0" marL="0">
              <a:lnSpc>
                <a:spcPts val="2470"/>
              </a:lnSpc>
              <a:buNone/>
            </a:pPr>
            <a:r>
              <a:rPr b="1" dirty="0" sz="2470" kern="0" lang="en-US" spc="-74">
                <a:solidFill>
                  <a:srgbClr val="E5E0DF"/>
                </a:solidFill>
                <a:latin typeface="Overpass" pitchFamily="34" charset="0"/>
                <a:ea typeface="Overpass" pitchFamily="34" charset="-122"/>
                <a:cs typeface="Overpass" pitchFamily="34" charset="-120"/>
              </a:rPr>
              <a:t>2</a:t>
            </a:r>
            <a:endParaRPr dirty="0" sz="2470" lang="en-US"/>
          </a:p>
        </p:txBody>
      </p:sp>
      <p:sp>
        <p:nvSpPr>
          <p:cNvPr id="1048695" name="Text 12"/>
          <p:cNvSpPr/>
          <p:nvPr/>
        </p:nvSpPr>
        <p:spPr>
          <a:xfrm>
            <a:off x="6008013" y="5830133"/>
            <a:ext cx="2614017" cy="326827"/>
          </a:xfrm>
          <a:prstGeom prst="rect"/>
          <a:noFill/>
        </p:spPr>
        <p:txBody>
          <a:bodyPr anchor="t" rtlCol="0" wrap="none"/>
          <a:p>
            <a:pPr algn="ctr"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Grants and Donations</a:t>
            </a:r>
            <a:endParaRPr dirty="0" sz="2058" lang="en-US"/>
          </a:p>
        </p:txBody>
      </p:sp>
      <p:sp>
        <p:nvSpPr>
          <p:cNvPr id="1048696" name="Text 13"/>
          <p:cNvSpPr/>
          <p:nvPr/>
        </p:nvSpPr>
        <p:spPr>
          <a:xfrm>
            <a:off x="5109448" y="6290191"/>
            <a:ext cx="4411266" cy="999768"/>
          </a:xfrm>
          <a:prstGeom prst="rect"/>
          <a:noFill/>
        </p:spPr>
        <p:txBody>
          <a:bodyPr anchor="t" rtlCol="0" wrap="square"/>
          <a:p>
            <a:pPr algn="ctr" indent="0" marL="0">
              <a:lnSpc>
                <a:spcPts val="2624"/>
              </a:lnSpc>
              <a:buNone/>
            </a:pPr>
            <a:r>
              <a:rPr dirty="0" sz="1750" lang="en-US">
                <a:solidFill>
                  <a:srgbClr val="E5E0DF"/>
                </a:solidFill>
                <a:latin typeface="Overpass" pitchFamily="34" charset="0"/>
                <a:ea typeface="Overpass" pitchFamily="34" charset="-122"/>
                <a:cs typeface="Overpass" pitchFamily="34" charset="-120"/>
              </a:rPr>
              <a:t>We actively seek funding from foundations, organizations, and individuals who support our mission.</a:t>
            </a:r>
            <a:endParaRPr dirty="0" sz="1750" lang="en-US"/>
          </a:p>
        </p:txBody>
      </p:sp>
      <p:sp>
        <p:nvSpPr>
          <p:cNvPr id="1048697" name="Shape 14"/>
          <p:cNvSpPr/>
          <p:nvPr/>
        </p:nvSpPr>
        <p:spPr>
          <a:xfrm>
            <a:off x="9831765" y="4052709"/>
            <a:ext cx="44410" cy="777597"/>
          </a:xfrm>
          <a:prstGeom prst="roundRect">
            <a:avLst>
              <a:gd name="adj" fmla="val 225151"/>
            </a:avLst>
          </a:prstGeom>
          <a:solidFill>
            <a:srgbClr val="971B55"/>
          </a:solidFill>
        </p:spPr>
      </p:sp>
      <p:sp>
        <p:nvSpPr>
          <p:cNvPr id="1048698" name="Shape 15"/>
          <p:cNvSpPr/>
          <p:nvPr/>
        </p:nvSpPr>
        <p:spPr>
          <a:xfrm>
            <a:off x="9604058" y="4580275"/>
            <a:ext cx="499943" cy="499943"/>
          </a:xfrm>
          <a:prstGeom prst="roundRect">
            <a:avLst>
              <a:gd name="adj" fmla="val 20000"/>
            </a:avLst>
          </a:prstGeom>
          <a:solidFill>
            <a:srgbClr val="7E023C"/>
          </a:solidFill>
          <a:ln w="7620">
            <a:solidFill>
              <a:srgbClr val="971B55"/>
            </a:solidFill>
            <a:prstDash val="solid"/>
          </a:ln>
        </p:spPr>
      </p:sp>
      <p:sp>
        <p:nvSpPr>
          <p:cNvPr id="1048699" name="Text 16"/>
          <p:cNvSpPr/>
          <p:nvPr/>
        </p:nvSpPr>
        <p:spPr>
          <a:xfrm>
            <a:off x="9764673" y="4673382"/>
            <a:ext cx="178713" cy="313730"/>
          </a:xfrm>
          <a:prstGeom prst="rect"/>
          <a:noFill/>
        </p:spPr>
        <p:txBody>
          <a:bodyPr anchor="t" rtlCol="0" wrap="none"/>
          <a:p>
            <a:pPr algn="ctr" indent="0" marL="0">
              <a:lnSpc>
                <a:spcPts val="2470"/>
              </a:lnSpc>
              <a:buNone/>
            </a:pPr>
            <a:r>
              <a:rPr b="1" dirty="0" sz="2470" kern="0" lang="en-US" spc="-74">
                <a:solidFill>
                  <a:srgbClr val="E5E0DF"/>
                </a:solidFill>
                <a:latin typeface="Overpass" pitchFamily="34" charset="0"/>
                <a:ea typeface="Overpass" pitchFamily="34" charset="-122"/>
                <a:cs typeface="Overpass" pitchFamily="34" charset="-120"/>
              </a:rPr>
              <a:t>3</a:t>
            </a:r>
            <a:endParaRPr dirty="0" sz="2470" lang="en-US"/>
          </a:p>
        </p:txBody>
      </p:sp>
      <p:sp>
        <p:nvSpPr>
          <p:cNvPr id="1048700" name="Text 17"/>
          <p:cNvSpPr/>
          <p:nvPr/>
        </p:nvSpPr>
        <p:spPr>
          <a:xfrm>
            <a:off x="8547021" y="2037278"/>
            <a:ext cx="2614017" cy="326827"/>
          </a:xfrm>
          <a:prstGeom prst="rect"/>
          <a:noFill/>
        </p:spPr>
        <p:txBody>
          <a:bodyPr anchor="t" rtlCol="0" wrap="none"/>
          <a:p>
            <a:pPr algn="ctr"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Partnerships</a:t>
            </a:r>
            <a:endParaRPr dirty="0" sz="2058" lang="en-US"/>
          </a:p>
        </p:txBody>
      </p:sp>
      <p:sp>
        <p:nvSpPr>
          <p:cNvPr id="1048701" name="Text 18"/>
          <p:cNvSpPr/>
          <p:nvPr/>
        </p:nvSpPr>
        <p:spPr>
          <a:xfrm>
            <a:off x="7648337" y="2497336"/>
            <a:ext cx="4411385" cy="1333024"/>
          </a:xfrm>
          <a:prstGeom prst="rect"/>
          <a:noFill/>
        </p:spPr>
        <p:txBody>
          <a:bodyPr anchor="t" rtlCol="0" wrap="square"/>
          <a:p>
            <a:pPr algn="ctr" indent="0" marL="0">
              <a:lnSpc>
                <a:spcPts val="2624"/>
              </a:lnSpc>
              <a:buNone/>
            </a:pPr>
            <a:r>
              <a:rPr dirty="0" sz="1750" lang="en-US">
                <a:solidFill>
                  <a:srgbClr val="E5E0DF"/>
                </a:solidFill>
                <a:latin typeface="Overpass" pitchFamily="34" charset="0"/>
                <a:ea typeface="Overpass" pitchFamily="34" charset="-122"/>
                <a:cs typeface="Overpass" pitchFamily="34" charset="-120"/>
              </a:rPr>
              <a:t>We collaborate with mental health organizations and professionals to provide services and raise awareness about mental health.</a:t>
            </a:r>
            <a:endParaRPr dirty="0" sz="1750" lang="en-US"/>
          </a:p>
        </p:txBody>
      </p:sp>
      <p:pic>
        <p:nvPicPr>
          <p:cNvPr id="2097174" name="Image 0" descr="preencoded.png">
            <a:hlinkClick r:id="rId1" tooltip=""/>
          </p:cNvPr>
          <p:cNvPicPr>
            <a:picLocks noChangeAspect="1"/>
          </p:cNvPicPr>
          <p:nvPr/>
        </p:nvPicPr>
        <p:blipFill>
          <a:blip xmlns:r="http://schemas.openxmlformats.org/officeDocument/2006/relationships" r:embed="rId2"/>
          <a:stretch>
            <a:fillRect/>
          </a:stretch>
        </p:blipFill>
        <p:spPr>
          <a:xfrm>
            <a:off x="12242153" y="7589520"/>
            <a:ext cx="2296807" cy="548640"/>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43" name=""/>
        <p:cNvGrpSpPr/>
        <p:nvPr/>
      </p:nvGrpSpPr>
      <p:grpSpPr>
        <a:xfrm>
          <a:off x="0" y="0"/>
          <a:ext cx="0" cy="0"/>
          <a:chOff x="0" y="0"/>
          <a:chExt cx="0" cy="0"/>
        </a:xfrm>
      </p:grpSpPr>
      <p:sp>
        <p:nvSpPr>
          <p:cNvPr id="1048705" name="Shape 0"/>
          <p:cNvSpPr/>
          <p:nvPr/>
        </p:nvSpPr>
        <p:spPr>
          <a:xfrm>
            <a:off x="0" y="0"/>
            <a:ext cx="14630400" cy="8229600"/>
          </a:xfrm>
          <a:prstGeom prst="rect"/>
          <a:solidFill>
            <a:srgbClr val="EADEDA"/>
          </a:solidFill>
        </p:spPr>
      </p:sp>
      <p:sp>
        <p:nvSpPr>
          <p:cNvPr id="1048706" name="Shape 1"/>
          <p:cNvSpPr/>
          <p:nvPr/>
        </p:nvSpPr>
        <p:spPr>
          <a:xfrm>
            <a:off x="0" y="0"/>
            <a:ext cx="14630400" cy="8230791"/>
          </a:xfrm>
          <a:prstGeom prst="rect"/>
          <a:solidFill>
            <a:srgbClr val="0C0C0C"/>
          </a:solidFill>
        </p:spPr>
      </p:sp>
      <p:sp>
        <p:nvSpPr>
          <p:cNvPr id="1048707" name="Text 2"/>
          <p:cNvSpPr/>
          <p:nvPr/>
        </p:nvSpPr>
        <p:spPr>
          <a:xfrm>
            <a:off x="3091458" y="519589"/>
            <a:ext cx="5131237" cy="555665"/>
          </a:xfrm>
          <a:prstGeom prst="rect"/>
          <a:noFill/>
        </p:spPr>
        <p:txBody>
          <a:bodyPr anchor="t" rtlCol="0" wrap="none"/>
          <a:p>
            <a:pPr indent="0" marL="0">
              <a:lnSpc>
                <a:spcPts val="4376"/>
              </a:lnSpc>
              <a:buNone/>
            </a:pPr>
            <a:r>
              <a:rPr b="1" dirty="0" sz="3501" kern="0" lang="en-US" spc="-105">
                <a:solidFill>
                  <a:srgbClr val="FFFFFF"/>
                </a:solidFill>
                <a:latin typeface="Overpass" pitchFamily="34" charset="0"/>
                <a:ea typeface="Overpass" pitchFamily="34" charset="-122"/>
                <a:cs typeface="Overpass" pitchFamily="34" charset="-120"/>
              </a:rPr>
              <a:t>                      Meet The Team</a:t>
            </a:r>
            <a:endParaRPr dirty="0" sz="3501" lang="en-US"/>
          </a:p>
        </p:txBody>
      </p:sp>
      <p:pic>
        <p:nvPicPr>
          <p:cNvPr id="2097175" name="Image 0" descr="preencoded.png"/>
          <p:cNvPicPr>
            <a:picLocks noChangeAspect="1"/>
          </p:cNvPicPr>
          <p:nvPr/>
        </p:nvPicPr>
        <p:blipFill>
          <a:blip xmlns:r="http://schemas.openxmlformats.org/officeDocument/2006/relationships" r:embed="rId1"/>
          <a:stretch>
            <a:fillRect/>
          </a:stretch>
        </p:blipFill>
        <p:spPr>
          <a:xfrm>
            <a:off x="3091458" y="1453158"/>
            <a:ext cx="2626876" cy="2626876"/>
          </a:xfrm>
          <a:prstGeom prst="rect"/>
        </p:spPr>
      </p:pic>
      <p:sp>
        <p:nvSpPr>
          <p:cNvPr id="1048708" name="Text 3"/>
          <p:cNvSpPr/>
          <p:nvPr/>
        </p:nvSpPr>
        <p:spPr>
          <a:xfrm>
            <a:off x="3091458" y="4316135"/>
            <a:ext cx="2626876" cy="333494"/>
          </a:xfrm>
          <a:prstGeom prst="rect"/>
          <a:noFill/>
        </p:spPr>
        <p:txBody>
          <a:bodyPr anchor="t" rtlCol="0" wrap="none"/>
          <a:p>
            <a:pPr algn="ctr" indent="0" marL="0">
              <a:lnSpc>
                <a:spcPts val="2626"/>
              </a:lnSpc>
              <a:buNone/>
            </a:pPr>
            <a:r>
              <a:rPr b="1" dirty="0" sz="2100" kern="0" lang="en-US" spc="-63">
                <a:solidFill>
                  <a:srgbClr val="E5E0DF"/>
                </a:solidFill>
                <a:latin typeface="Overpass" pitchFamily="34" charset="0"/>
                <a:ea typeface="Overpass" pitchFamily="34" charset="-122"/>
                <a:cs typeface="Overpass" pitchFamily="34" charset="-120"/>
              </a:rPr>
              <a:t>Faith Waigi</a:t>
            </a:r>
            <a:endParaRPr dirty="0" sz="2100" lang="en-US"/>
          </a:p>
        </p:txBody>
      </p:sp>
      <p:sp>
        <p:nvSpPr>
          <p:cNvPr id="1048709" name="Text 4"/>
          <p:cNvSpPr/>
          <p:nvPr/>
        </p:nvSpPr>
        <p:spPr>
          <a:xfrm>
            <a:off x="3091458" y="4762976"/>
            <a:ext cx="2626876" cy="283369"/>
          </a:xfrm>
          <a:prstGeom prst="rect"/>
          <a:noFill/>
        </p:spPr>
        <p:txBody>
          <a:bodyPr anchor="t" rtlCol="0" wrap="none"/>
          <a:p>
            <a:pPr algn="ctr" indent="0" marL="0">
              <a:lnSpc>
                <a:spcPts val="2232"/>
              </a:lnSpc>
              <a:buNone/>
            </a:pPr>
            <a:r>
              <a:rPr dirty="0" sz="1488" lang="en-US">
                <a:solidFill>
                  <a:srgbClr val="E5E0DF"/>
                </a:solidFill>
                <a:latin typeface="Overpass" pitchFamily="34" charset="0"/>
                <a:ea typeface="Overpass" pitchFamily="34" charset="-122"/>
                <a:cs typeface="Overpass" pitchFamily="34" charset="-120"/>
              </a:rPr>
              <a:t>Founder</a:t>
            </a:r>
            <a:endParaRPr dirty="0" sz="1488" lang="en-US"/>
          </a:p>
        </p:txBody>
      </p:sp>
      <p:sp>
        <p:nvSpPr>
          <p:cNvPr id="1048710" name="Text 5"/>
          <p:cNvSpPr/>
          <p:nvPr/>
        </p:nvSpPr>
        <p:spPr>
          <a:xfrm>
            <a:off x="3091458" y="5159693"/>
            <a:ext cx="2626876" cy="2494955"/>
          </a:xfrm>
          <a:prstGeom prst="rect"/>
          <a:noFill/>
        </p:spPr>
        <p:txBody>
          <a:bodyPr anchor="t" rtlCol="0" wrap="square"/>
          <a:p>
            <a:pPr algn="ctr" indent="0" marL="0">
              <a:lnSpc>
                <a:spcPts val="1785"/>
              </a:lnSpc>
              <a:buNone/>
            </a:pPr>
            <a:r>
              <a:rPr dirty="0" sz="1190" lang="en-US">
                <a:solidFill>
                  <a:srgbClr val="E5E0DF"/>
                </a:solidFill>
                <a:latin typeface="Overpass" pitchFamily="34" charset="0"/>
                <a:ea typeface="Overpass" pitchFamily="34" charset="-122"/>
                <a:cs typeface="Overpass" pitchFamily="34" charset="-120"/>
              </a:rPr>
              <a:t>Faith provides guidance on the club's mission, vision, and objectives, ensuring it aligns with the original framework. She also facilitates communication with key stakeholders such as the Kenyatta University Medical School fraternity and mental health organizations. Faith is a mental health enthusiast and is a 5th year medical student at Kenyatta University. </a:t>
            </a:r>
            <a:endParaRPr dirty="0" sz="1190" lang="en-US"/>
          </a:p>
        </p:txBody>
      </p:sp>
      <p:pic>
        <p:nvPicPr>
          <p:cNvPr id="2097176" name="Image 1" descr="preencoded.png"/>
          <p:cNvPicPr>
            <a:picLocks noChangeAspect="1"/>
          </p:cNvPicPr>
          <p:nvPr/>
        </p:nvPicPr>
        <p:blipFill>
          <a:blip xmlns:r="http://schemas.openxmlformats.org/officeDocument/2006/relationships" r:embed="rId2"/>
          <a:stretch>
            <a:fillRect/>
          </a:stretch>
        </p:blipFill>
        <p:spPr>
          <a:xfrm>
            <a:off x="6001703" y="1453158"/>
            <a:ext cx="2626876" cy="2626876"/>
          </a:xfrm>
          <a:prstGeom prst="rect"/>
        </p:spPr>
      </p:pic>
      <p:sp>
        <p:nvSpPr>
          <p:cNvPr id="1048711" name="Text 6"/>
          <p:cNvSpPr/>
          <p:nvPr/>
        </p:nvSpPr>
        <p:spPr>
          <a:xfrm>
            <a:off x="6001703" y="4316135"/>
            <a:ext cx="2626876" cy="333494"/>
          </a:xfrm>
          <a:prstGeom prst="rect"/>
          <a:noFill/>
        </p:spPr>
        <p:txBody>
          <a:bodyPr anchor="t" rtlCol="0" wrap="none"/>
          <a:p>
            <a:pPr algn="ctr" indent="0" marL="0">
              <a:lnSpc>
                <a:spcPts val="2626"/>
              </a:lnSpc>
              <a:buNone/>
            </a:pPr>
            <a:r>
              <a:rPr b="1" dirty="0" sz="2100" kern="0" lang="en-US" spc="-63">
                <a:solidFill>
                  <a:srgbClr val="E5E0DF"/>
                </a:solidFill>
                <a:latin typeface="Overpass" pitchFamily="34" charset="0"/>
                <a:ea typeface="Overpass" pitchFamily="34" charset="-122"/>
                <a:cs typeface="Overpass" pitchFamily="34" charset="-120"/>
              </a:rPr>
              <a:t>Reagan Kirwa</a:t>
            </a:r>
            <a:endParaRPr dirty="0" sz="2100" lang="en-US"/>
          </a:p>
        </p:txBody>
      </p:sp>
      <p:sp>
        <p:nvSpPr>
          <p:cNvPr id="1048712" name="Text 7"/>
          <p:cNvSpPr/>
          <p:nvPr/>
        </p:nvSpPr>
        <p:spPr>
          <a:xfrm>
            <a:off x="6001703" y="4762976"/>
            <a:ext cx="2626876" cy="283369"/>
          </a:xfrm>
          <a:prstGeom prst="rect"/>
          <a:noFill/>
        </p:spPr>
        <p:txBody>
          <a:bodyPr anchor="t" rtlCol="0" wrap="none"/>
          <a:p>
            <a:pPr algn="ctr" indent="0" marL="0">
              <a:lnSpc>
                <a:spcPts val="2232"/>
              </a:lnSpc>
              <a:buNone/>
            </a:pPr>
            <a:r>
              <a:rPr dirty="0" sz="1488" lang="en-US">
                <a:solidFill>
                  <a:srgbClr val="E5E0DF"/>
                </a:solidFill>
                <a:latin typeface="Overpass" pitchFamily="34" charset="0"/>
                <a:ea typeface="Overpass" pitchFamily="34" charset="-122"/>
                <a:cs typeface="Overpass" pitchFamily="34" charset="-120"/>
              </a:rPr>
              <a:t>Director of Development</a:t>
            </a:r>
            <a:endParaRPr dirty="0" sz="1488" lang="en-US"/>
          </a:p>
        </p:txBody>
      </p:sp>
      <p:sp>
        <p:nvSpPr>
          <p:cNvPr id="1048713" name="Text 8"/>
          <p:cNvSpPr/>
          <p:nvPr/>
        </p:nvSpPr>
        <p:spPr>
          <a:xfrm>
            <a:off x="6001703" y="5159693"/>
            <a:ext cx="2626876" cy="2268141"/>
          </a:xfrm>
          <a:prstGeom prst="rect"/>
          <a:noFill/>
        </p:spPr>
        <p:txBody>
          <a:bodyPr anchor="t" rtlCol="0" wrap="square"/>
          <a:p>
            <a:pPr algn="ctr" indent="0" marL="0">
              <a:lnSpc>
                <a:spcPts val="1785"/>
              </a:lnSpc>
              <a:buNone/>
            </a:pPr>
            <a:r>
              <a:rPr dirty="0" sz="1190" lang="en-US">
                <a:solidFill>
                  <a:srgbClr val="E5E0DF"/>
                </a:solidFill>
                <a:latin typeface="Overpass" pitchFamily="34" charset="0"/>
                <a:ea typeface="Overpass" pitchFamily="34" charset="-122"/>
                <a:cs typeface="Overpass" pitchFamily="34" charset="-120"/>
              </a:rPr>
              <a:t>Reagan is responsible for the growth of the club; he identifies and obtains opportunities for partnerships and funding and provides strategic input on major decisions. He also introduces new ideas to keep the club innovative and relevant. Reagan is a mental health enthusiast and is the National Officer for the Standing Committee on Mental Health (SCOMH) in Kenya.</a:t>
            </a:r>
            <a:endParaRPr dirty="0" sz="1190" lang="en-US"/>
          </a:p>
        </p:txBody>
      </p:sp>
      <p:pic>
        <p:nvPicPr>
          <p:cNvPr id="2097177" name="Image 2" descr="preencoded.png"/>
          <p:cNvPicPr>
            <a:picLocks noChangeAspect="1"/>
          </p:cNvPicPr>
          <p:nvPr/>
        </p:nvPicPr>
        <p:blipFill>
          <a:blip xmlns:r="http://schemas.openxmlformats.org/officeDocument/2006/relationships" r:embed="rId3"/>
          <a:stretch>
            <a:fillRect/>
          </a:stretch>
        </p:blipFill>
        <p:spPr>
          <a:xfrm>
            <a:off x="8911947" y="1453158"/>
            <a:ext cx="2626876" cy="2626876"/>
          </a:xfrm>
          <a:prstGeom prst="rect"/>
        </p:spPr>
      </p:pic>
      <p:sp>
        <p:nvSpPr>
          <p:cNvPr id="1048714" name="Text 9"/>
          <p:cNvSpPr/>
          <p:nvPr/>
        </p:nvSpPr>
        <p:spPr>
          <a:xfrm>
            <a:off x="8911947" y="4316135"/>
            <a:ext cx="2626876" cy="333494"/>
          </a:xfrm>
          <a:prstGeom prst="rect"/>
          <a:noFill/>
        </p:spPr>
        <p:txBody>
          <a:bodyPr anchor="t" rtlCol="0" wrap="none"/>
          <a:p>
            <a:pPr algn="ctr" indent="0" marL="0">
              <a:lnSpc>
                <a:spcPts val="2626"/>
              </a:lnSpc>
              <a:buNone/>
            </a:pPr>
            <a:r>
              <a:rPr b="1" dirty="0" sz="2100" kern="0" lang="en-US" spc="-63">
                <a:solidFill>
                  <a:srgbClr val="E5E0DF"/>
                </a:solidFill>
                <a:latin typeface="Overpass" pitchFamily="34" charset="0"/>
                <a:ea typeface="Overpass" pitchFamily="34" charset="-122"/>
                <a:cs typeface="Overpass" pitchFamily="34" charset="-120"/>
              </a:rPr>
              <a:t>Cliff Sabaniah</a:t>
            </a:r>
            <a:endParaRPr dirty="0" sz="2100" lang="en-US"/>
          </a:p>
        </p:txBody>
      </p:sp>
      <p:sp>
        <p:nvSpPr>
          <p:cNvPr id="1048715" name="Text 10"/>
          <p:cNvSpPr/>
          <p:nvPr/>
        </p:nvSpPr>
        <p:spPr>
          <a:xfrm>
            <a:off x="8911947" y="4762976"/>
            <a:ext cx="2626876" cy="566738"/>
          </a:xfrm>
          <a:prstGeom prst="rect"/>
          <a:noFill/>
        </p:spPr>
        <p:txBody>
          <a:bodyPr anchor="t" rtlCol="0" wrap="square"/>
          <a:p>
            <a:pPr algn="ctr" indent="0" marL="0">
              <a:lnSpc>
                <a:spcPts val="2232"/>
              </a:lnSpc>
              <a:buNone/>
            </a:pPr>
            <a:r>
              <a:rPr dirty="0" sz="1488" lang="en-US">
                <a:solidFill>
                  <a:srgbClr val="E5E0DF"/>
                </a:solidFill>
                <a:latin typeface="Overpass" pitchFamily="34" charset="0"/>
                <a:ea typeface="Overpass" pitchFamily="34" charset="-122"/>
                <a:cs typeface="Overpass" pitchFamily="34" charset="-120"/>
              </a:rPr>
              <a:t>Event Coordinator and Public Relations Officer</a:t>
            </a:r>
            <a:endParaRPr dirty="0" sz="1488" lang="en-US"/>
          </a:p>
        </p:txBody>
      </p:sp>
      <p:sp>
        <p:nvSpPr>
          <p:cNvPr id="1048716" name="Text 11"/>
          <p:cNvSpPr/>
          <p:nvPr/>
        </p:nvSpPr>
        <p:spPr>
          <a:xfrm>
            <a:off x="8911947" y="5443061"/>
            <a:ext cx="2626876" cy="2268141"/>
          </a:xfrm>
          <a:prstGeom prst="rect"/>
          <a:noFill/>
        </p:spPr>
        <p:txBody>
          <a:bodyPr anchor="t" rtlCol="0" wrap="square"/>
          <a:p>
            <a:pPr algn="ctr" indent="0" marL="0">
              <a:lnSpc>
                <a:spcPts val="1785"/>
              </a:lnSpc>
              <a:buNone/>
            </a:pPr>
            <a:r>
              <a:rPr dirty="0" sz="1190" lang="en-US">
                <a:solidFill>
                  <a:srgbClr val="E5E0DF"/>
                </a:solidFill>
                <a:latin typeface="Overpass" pitchFamily="34" charset="0"/>
                <a:ea typeface="Overpass" pitchFamily="34" charset="-122"/>
                <a:cs typeface="Overpass" pitchFamily="34" charset="-120"/>
              </a:rPr>
              <a:t>Cliff is at the helm of event coordination and public relations in the club. He organizes events for the club, coordinating logistics, such as venue booking and materials. He is also in charge of the social media team. Cliff is a mental health enthusiast and is the Local Officer for the Standing Committee on Mental Health (SCOMH) in Kenyatta University. </a:t>
            </a:r>
            <a:endParaRPr dirty="0" sz="1190" lang="en-US"/>
          </a:p>
        </p:txBody>
      </p:sp>
      <p:pic>
        <p:nvPicPr>
          <p:cNvPr id="2097178" name="Image 3" descr="preencoded.png">
            <a:hlinkClick r:id="rId4" tooltip=""/>
          </p:cNvPr>
          <p:cNvPicPr>
            <a:picLocks noChangeAspect="1"/>
          </p:cNvPicPr>
          <p:nvPr/>
        </p:nvPicPr>
        <p:blipFill>
          <a:blip xmlns:r="http://schemas.openxmlformats.org/officeDocument/2006/relationships" r:embed="rId5"/>
          <a:stretch>
            <a:fillRect/>
          </a:stretch>
        </p:blipFill>
        <p:spPr>
          <a:xfrm>
            <a:off x="12242153" y="7589520"/>
            <a:ext cx="2296807" cy="548640"/>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46" name=""/>
        <p:cNvGrpSpPr/>
        <p:nvPr/>
      </p:nvGrpSpPr>
      <p:grpSpPr>
        <a:xfrm>
          <a:off x="0" y="0"/>
          <a:ext cx="0" cy="0"/>
          <a:chOff x="0" y="0"/>
          <a:chExt cx="0" cy="0"/>
        </a:xfrm>
      </p:grpSpPr>
      <p:sp>
        <p:nvSpPr>
          <p:cNvPr id="1048720" name="Shape 0"/>
          <p:cNvSpPr/>
          <p:nvPr/>
        </p:nvSpPr>
        <p:spPr>
          <a:xfrm>
            <a:off x="0" y="0"/>
            <a:ext cx="14630400" cy="8229600"/>
          </a:xfrm>
          <a:prstGeom prst="rect"/>
          <a:solidFill>
            <a:srgbClr val="EADEDA"/>
          </a:solidFill>
        </p:spPr>
      </p:sp>
      <p:sp>
        <p:nvSpPr>
          <p:cNvPr id="1048721" name="Shape 1"/>
          <p:cNvSpPr/>
          <p:nvPr/>
        </p:nvSpPr>
        <p:spPr>
          <a:xfrm>
            <a:off x="0" y="0"/>
            <a:ext cx="14630400" cy="8229600"/>
          </a:xfrm>
          <a:prstGeom prst="rect"/>
          <a:solidFill>
            <a:srgbClr val="0C0C0C"/>
          </a:solidFill>
        </p:spPr>
      </p:sp>
      <p:sp>
        <p:nvSpPr>
          <p:cNvPr id="1048722" name="Text 2"/>
          <p:cNvSpPr/>
          <p:nvPr/>
        </p:nvSpPr>
        <p:spPr>
          <a:xfrm>
            <a:off x="2348389" y="1787247"/>
            <a:ext cx="9933503" cy="1306830"/>
          </a:xfrm>
          <a:prstGeom prst="rect"/>
          <a:noFill/>
        </p:spPr>
        <p:txBody>
          <a:bodyPr anchor="t" rtlCol="0" wrap="square"/>
          <a:p>
            <a:pPr indent="0" marL="0">
              <a:lnSpc>
                <a:spcPts val="5146"/>
              </a:lnSpc>
              <a:buNone/>
            </a:pPr>
            <a:r>
              <a:rPr b="1" dirty="0" sz="4117" kern="0" lang="en-US" spc="-124">
                <a:solidFill>
                  <a:srgbClr val="FFFFFF"/>
                </a:solidFill>
                <a:latin typeface="Overpass" pitchFamily="34" charset="0"/>
                <a:ea typeface="Overpass" pitchFamily="34" charset="-122"/>
                <a:cs typeface="Overpass" pitchFamily="34" charset="-120"/>
              </a:rPr>
              <a:t>Call to Action: Join Us in Building a Healthier Community</a:t>
            </a:r>
            <a:endParaRPr dirty="0" sz="4117" lang="en-US"/>
          </a:p>
        </p:txBody>
      </p:sp>
      <p:pic>
        <p:nvPicPr>
          <p:cNvPr id="2097179" name="Image 0" descr="preencoded.png"/>
          <p:cNvPicPr>
            <a:picLocks noChangeAspect="1"/>
          </p:cNvPicPr>
          <p:nvPr/>
        </p:nvPicPr>
        <p:blipFill>
          <a:blip xmlns:r="http://schemas.openxmlformats.org/officeDocument/2006/relationships" r:embed="rId1"/>
          <a:stretch>
            <a:fillRect/>
          </a:stretch>
        </p:blipFill>
        <p:spPr>
          <a:xfrm>
            <a:off x="2348389" y="3538418"/>
            <a:ext cx="555427" cy="555427"/>
          </a:xfrm>
          <a:prstGeom prst="rect"/>
        </p:spPr>
      </p:pic>
      <p:sp>
        <p:nvSpPr>
          <p:cNvPr id="1048723" name="Text 3"/>
          <p:cNvSpPr/>
          <p:nvPr/>
        </p:nvSpPr>
        <p:spPr>
          <a:xfrm>
            <a:off x="2348389" y="4316016"/>
            <a:ext cx="2233374"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Become a Member</a:t>
            </a:r>
            <a:endParaRPr dirty="0" sz="2058" lang="en-US"/>
          </a:p>
        </p:txBody>
      </p:sp>
      <p:sp>
        <p:nvSpPr>
          <p:cNvPr id="1048724" name="Text 4"/>
          <p:cNvSpPr/>
          <p:nvPr/>
        </p:nvSpPr>
        <p:spPr>
          <a:xfrm>
            <a:off x="2348389" y="4776073"/>
            <a:ext cx="2233374" cy="1666280"/>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Join our community and experience the transformative power of our programs and services.</a:t>
            </a:r>
            <a:endParaRPr dirty="0" sz="1750" lang="en-US"/>
          </a:p>
        </p:txBody>
      </p:sp>
      <p:pic>
        <p:nvPicPr>
          <p:cNvPr id="2097180" name="Image 1" descr="preencoded.png"/>
          <p:cNvPicPr>
            <a:picLocks noChangeAspect="1"/>
          </p:cNvPicPr>
          <p:nvPr/>
        </p:nvPicPr>
        <p:blipFill>
          <a:blip xmlns:r="http://schemas.openxmlformats.org/officeDocument/2006/relationships" r:embed="rId2"/>
          <a:stretch>
            <a:fillRect/>
          </a:stretch>
        </p:blipFill>
        <p:spPr>
          <a:xfrm>
            <a:off x="4915019" y="3538418"/>
            <a:ext cx="555427" cy="555427"/>
          </a:xfrm>
          <a:prstGeom prst="rect"/>
        </p:spPr>
      </p:pic>
      <p:sp>
        <p:nvSpPr>
          <p:cNvPr id="1048725" name="Text 5"/>
          <p:cNvSpPr/>
          <p:nvPr/>
        </p:nvSpPr>
        <p:spPr>
          <a:xfrm>
            <a:off x="4915019" y="4316016"/>
            <a:ext cx="2233493"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Donate</a:t>
            </a:r>
            <a:endParaRPr dirty="0" sz="2058" lang="en-US"/>
          </a:p>
        </p:txBody>
      </p:sp>
      <p:sp>
        <p:nvSpPr>
          <p:cNvPr id="1048726" name="Text 6"/>
          <p:cNvSpPr/>
          <p:nvPr/>
        </p:nvSpPr>
        <p:spPr>
          <a:xfrm>
            <a:off x="4915019" y="4776073"/>
            <a:ext cx="2233493" cy="1333024"/>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Help us reach more individuals in need by making a donation to support our mission.</a:t>
            </a:r>
            <a:endParaRPr dirty="0" sz="1750" lang="en-US"/>
          </a:p>
        </p:txBody>
      </p:sp>
      <p:pic>
        <p:nvPicPr>
          <p:cNvPr id="2097181" name="Image 2" descr="preencoded.png"/>
          <p:cNvPicPr>
            <a:picLocks noChangeAspect="1"/>
          </p:cNvPicPr>
          <p:nvPr/>
        </p:nvPicPr>
        <p:blipFill>
          <a:blip xmlns:r="http://schemas.openxmlformats.org/officeDocument/2006/relationships" r:embed="rId3"/>
          <a:stretch>
            <a:fillRect/>
          </a:stretch>
        </p:blipFill>
        <p:spPr>
          <a:xfrm>
            <a:off x="7481768" y="3538418"/>
            <a:ext cx="555427" cy="555427"/>
          </a:xfrm>
          <a:prstGeom prst="rect"/>
        </p:spPr>
      </p:pic>
      <p:sp>
        <p:nvSpPr>
          <p:cNvPr id="1048727" name="Text 7"/>
          <p:cNvSpPr/>
          <p:nvPr/>
        </p:nvSpPr>
        <p:spPr>
          <a:xfrm>
            <a:off x="7481768" y="4316016"/>
            <a:ext cx="2233374"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Volunteer</a:t>
            </a:r>
            <a:endParaRPr dirty="0" sz="2058" lang="en-US"/>
          </a:p>
        </p:txBody>
      </p:sp>
      <p:sp>
        <p:nvSpPr>
          <p:cNvPr id="1048728" name="Text 8"/>
          <p:cNvSpPr/>
          <p:nvPr/>
        </p:nvSpPr>
        <p:spPr>
          <a:xfrm>
            <a:off x="7481768" y="4776073"/>
            <a:ext cx="2233374" cy="1666280"/>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Share your time and skills to contribute to a healthier and more supportive community.</a:t>
            </a:r>
            <a:endParaRPr dirty="0" sz="1750" lang="en-US"/>
          </a:p>
        </p:txBody>
      </p:sp>
      <p:pic>
        <p:nvPicPr>
          <p:cNvPr id="2097182" name="Image 3" descr="preencoded.png"/>
          <p:cNvPicPr>
            <a:picLocks noChangeAspect="1"/>
          </p:cNvPicPr>
          <p:nvPr/>
        </p:nvPicPr>
        <p:blipFill>
          <a:blip xmlns:r="http://schemas.openxmlformats.org/officeDocument/2006/relationships" r:embed="rId4"/>
          <a:stretch>
            <a:fillRect/>
          </a:stretch>
        </p:blipFill>
        <p:spPr>
          <a:xfrm>
            <a:off x="10048399" y="3538418"/>
            <a:ext cx="555427" cy="555427"/>
          </a:xfrm>
          <a:prstGeom prst="rect"/>
        </p:spPr>
      </p:pic>
      <p:sp>
        <p:nvSpPr>
          <p:cNvPr id="1048729" name="Text 9"/>
          <p:cNvSpPr/>
          <p:nvPr/>
        </p:nvSpPr>
        <p:spPr>
          <a:xfrm>
            <a:off x="10048399" y="4316016"/>
            <a:ext cx="2233493" cy="326827"/>
          </a:xfrm>
          <a:prstGeom prst="rect"/>
          <a:noFill/>
        </p:spPr>
        <p:txBody>
          <a:bodyPr anchor="t" rtlCol="0" wrap="none"/>
          <a:p>
            <a:pPr algn="l" indent="0" marL="0">
              <a:lnSpc>
                <a:spcPts val="2573"/>
              </a:lnSpc>
              <a:buNone/>
            </a:pPr>
            <a:r>
              <a:rPr b="1" dirty="0" sz="2058" kern="0" lang="en-US" spc="-62">
                <a:solidFill>
                  <a:srgbClr val="E5E0DF"/>
                </a:solidFill>
                <a:latin typeface="Overpass" pitchFamily="34" charset="0"/>
                <a:ea typeface="Overpass" pitchFamily="34" charset="-122"/>
                <a:cs typeface="Overpass" pitchFamily="34" charset="-120"/>
              </a:rPr>
              <a:t>Spread the Word</a:t>
            </a:r>
            <a:endParaRPr dirty="0" sz="2058" lang="en-US"/>
          </a:p>
        </p:txBody>
      </p:sp>
      <p:sp>
        <p:nvSpPr>
          <p:cNvPr id="1048730" name="Text 10"/>
          <p:cNvSpPr/>
          <p:nvPr/>
        </p:nvSpPr>
        <p:spPr>
          <a:xfrm>
            <a:off x="10048399" y="4776073"/>
            <a:ext cx="2233493" cy="1333024"/>
          </a:xfrm>
          <a:prstGeom prst="rect"/>
          <a:noFill/>
        </p:spPr>
        <p:txBody>
          <a:bodyPr anchor="t" rtlCol="0" wrap="square"/>
          <a:p>
            <a:pPr algn="l" indent="0" marL="0">
              <a:lnSpc>
                <a:spcPts val="2624"/>
              </a:lnSpc>
              <a:buNone/>
            </a:pPr>
            <a:r>
              <a:rPr dirty="0" sz="1750" lang="en-US">
                <a:solidFill>
                  <a:srgbClr val="E5E0DF"/>
                </a:solidFill>
                <a:latin typeface="Overpass" pitchFamily="34" charset="0"/>
                <a:ea typeface="Overpass" pitchFamily="34" charset="-122"/>
                <a:cs typeface="Overpass" pitchFamily="34" charset="-120"/>
              </a:rPr>
              <a:t>Help us reach more individuals by sharing our story with your friends and family.</a:t>
            </a:r>
            <a:endParaRPr dirty="0" sz="1750" lang="en-US"/>
          </a:p>
        </p:txBody>
      </p:sp>
      <p:pic>
        <p:nvPicPr>
          <p:cNvPr id="2097183" name="Image 4" descr="preencoded.png">
            <a:hlinkClick r:id="rId5" tooltip=""/>
          </p:cNvPr>
          <p:cNvPicPr>
            <a:picLocks noChangeAspect="1"/>
          </p:cNvPicPr>
          <p:nvPr/>
        </p:nvPicPr>
        <p:blipFill>
          <a:blip xmlns:r="http://schemas.openxmlformats.org/officeDocument/2006/relationships" r:embed="rId6"/>
          <a:stretch>
            <a:fillRect/>
          </a:stretch>
        </p:blipFill>
        <p:spPr>
          <a:xfrm>
            <a:off x="12242153" y="7589520"/>
            <a:ext cx="2296807" cy="548640"/>
          </a:xfrm>
          <a:prstGeom prst="rect"/>
        </p:spPr>
      </p:pic>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PptxGenJS</cp:lastModifiedBy>
  <dcterms:created xsi:type="dcterms:W3CDTF">2024-06-20T00:43:01Z</dcterms:created>
  <dcterms:modified xsi:type="dcterms:W3CDTF">2026-10-03T18:27:45Z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dd5a46c0884a4df58781b374d137046d_23</vt:lpwstr>
  </property>
</Properties>
</file>